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4357c8f8e940d1" /><Relationship Type="http://schemas.openxmlformats.org/officeDocument/2006/relationships/extended-properties" Target="/docProps/app.xml" Id="R02366fd3b78547db" /><Relationship Type="http://schemas.openxmlformats.org/officeDocument/2006/relationships/officeDocument" Target="/ppt/presentation.xml" Id="R4ae1c17a86ed40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757c0864e342ed"/>
  </p:sldMasterIdLst>
  <p:notesMasterIdLst>
    <p:notesMasterId xmlns:r="http://schemas.openxmlformats.org/officeDocument/2006/relationships" r:id="R19e217695ad64594"/>
  </p:notesMasterIdLst>
  <p:sldIdLst>
    <p:sldId xmlns:r="http://schemas.openxmlformats.org/officeDocument/2006/relationships" id="256" r:id="R16d5399446c146df"/>
    <p:sldId xmlns:r="http://schemas.openxmlformats.org/officeDocument/2006/relationships" id="257" r:id="Rafb0dae392d24f57"/>
    <p:sldId xmlns:r="http://schemas.openxmlformats.org/officeDocument/2006/relationships" id="258" r:id="R973fcdd7e45348ab"/>
    <p:sldId xmlns:r="http://schemas.openxmlformats.org/officeDocument/2006/relationships" id="259" r:id="R8e2c3bc6ba4d41b2"/>
    <p:sldId xmlns:r="http://schemas.openxmlformats.org/officeDocument/2006/relationships" id="260" r:id="R9f73efd3768e4d81"/>
    <p:sldId xmlns:r="http://schemas.openxmlformats.org/officeDocument/2006/relationships" id="261" r:id="R1ef3d99df6244184"/>
    <p:sldId xmlns:r="http://schemas.openxmlformats.org/officeDocument/2006/relationships" id="262" r:id="R0e75c43ae43046c9"/>
    <p:sldId xmlns:r="http://schemas.openxmlformats.org/officeDocument/2006/relationships" id="263" r:id="Rf6a80d3da27743fa"/>
    <p:sldId xmlns:r="http://schemas.openxmlformats.org/officeDocument/2006/relationships" id="264" r:id="R990211464d1a48d5"/>
    <p:sldId xmlns:r="http://schemas.openxmlformats.org/officeDocument/2006/relationships" id="265" r:id="Rd61f0074c0b447c9"/>
    <p:sldId xmlns:r="http://schemas.openxmlformats.org/officeDocument/2006/relationships" id="266" r:id="R687a13927e1e4ba3"/>
    <p:sldId xmlns:r="http://schemas.openxmlformats.org/officeDocument/2006/relationships" id="267" r:id="R08872146edac4072"/>
    <p:sldId xmlns:r="http://schemas.openxmlformats.org/officeDocument/2006/relationships" id="268" r:id="Rc2ef5a67fd084c89"/>
    <p:sldId xmlns:r="http://schemas.openxmlformats.org/officeDocument/2006/relationships" id="269" r:id="R913df7d520444de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57c0864e342ed" /><Relationship Type="http://schemas.openxmlformats.org/officeDocument/2006/relationships/theme" Target="/ppt/theme/theme1.xml" Id="R9d1edc7311cb4991" /><Relationship Type="http://schemas.openxmlformats.org/officeDocument/2006/relationships/notesMaster" Target="/ppt/notesMasters/notesMaster1.xml" Id="R19e217695ad64594" /><Relationship Type="http://schemas.openxmlformats.org/officeDocument/2006/relationships/presProps" Target="/ppt/presProps.xml" Id="Re94e37a8359a43bb" /><Relationship Type="http://schemas.openxmlformats.org/officeDocument/2006/relationships/viewProps" Target="/ppt/viewProps.xml" Id="Rec4b5c6b7ee6496f" /><Relationship Type="http://schemas.openxmlformats.org/officeDocument/2006/relationships/tableStyles" Target="/ppt/tableStyles.xml" Id="R171026a15b624aa7" /><Relationship Type="http://schemas.openxmlformats.org/officeDocument/2006/relationships/slide" Target="/ppt/slides/slide1.xml" Id="R16d5399446c146df" /><Relationship Type="http://schemas.openxmlformats.org/officeDocument/2006/relationships/slide" Target="/ppt/slides/slide2.xml" Id="Rafb0dae392d24f57" /><Relationship Type="http://schemas.openxmlformats.org/officeDocument/2006/relationships/slide" Target="/ppt/slides/slide3.xml" Id="R973fcdd7e45348ab" /><Relationship Type="http://schemas.openxmlformats.org/officeDocument/2006/relationships/slide" Target="/ppt/slides/slide4.xml" Id="R8e2c3bc6ba4d41b2" /><Relationship Type="http://schemas.openxmlformats.org/officeDocument/2006/relationships/slide" Target="/ppt/slides/slide5.xml" Id="R9f73efd3768e4d81" /><Relationship Type="http://schemas.openxmlformats.org/officeDocument/2006/relationships/slide" Target="/ppt/slides/slide6.xml" Id="R1ef3d99df6244184" /><Relationship Type="http://schemas.openxmlformats.org/officeDocument/2006/relationships/slide" Target="/ppt/slides/slide7.xml" Id="R0e75c43ae43046c9" /><Relationship Type="http://schemas.openxmlformats.org/officeDocument/2006/relationships/slide" Target="/ppt/slides/slide8.xml" Id="Rf6a80d3da27743fa" /><Relationship Type="http://schemas.openxmlformats.org/officeDocument/2006/relationships/slide" Target="/ppt/slides/slide9.xml" Id="R990211464d1a48d5" /><Relationship Type="http://schemas.openxmlformats.org/officeDocument/2006/relationships/slide" Target="/ppt/slides/slide10.xml" Id="Rd61f0074c0b447c9" /><Relationship Type="http://schemas.openxmlformats.org/officeDocument/2006/relationships/slide" Target="/ppt/slides/slide11.xml" Id="R687a13927e1e4ba3" /><Relationship Type="http://schemas.openxmlformats.org/officeDocument/2006/relationships/slide" Target="/ppt/slides/slide12.xml" Id="R08872146edac4072" /><Relationship Type="http://schemas.openxmlformats.org/officeDocument/2006/relationships/slide" Target="/ppt/slides/slide13.xml" Id="Rc2ef5a67fd084c89" /><Relationship Type="http://schemas.openxmlformats.org/officeDocument/2006/relationships/slide" Target="/ppt/slides/slide14.xml" Id="R913df7d520444d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f959ce41c343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7e841dad1f4854" /><Relationship Type="http://schemas.openxmlformats.org/officeDocument/2006/relationships/notesMaster" Target="/ppt/notesMasters/notesMaster1.xml" Id="Rfad229cafc4a43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3ff851d3f447ec" /><Relationship Type="http://schemas.openxmlformats.org/officeDocument/2006/relationships/notesMaster" Target="/ppt/notesMasters/notesMaster1.xml" Id="Ra110d40a442047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caaf8d6b0549f0" /><Relationship Type="http://schemas.openxmlformats.org/officeDocument/2006/relationships/notesMaster" Target="/ppt/notesMasters/notesMaster1.xml" Id="R3042354007d547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64d6a8fe2f4f41" /><Relationship Type="http://schemas.openxmlformats.org/officeDocument/2006/relationships/notesMaster" Target="/ppt/notesMasters/notesMaster1.xml" Id="R33f26dc5f3ed40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0bbf351d534f32" /><Relationship Type="http://schemas.openxmlformats.org/officeDocument/2006/relationships/notesMaster" Target="/ppt/notesMasters/notesMaster1.xml" Id="R42babbf90cd84c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a52915a13146ba" /><Relationship Type="http://schemas.openxmlformats.org/officeDocument/2006/relationships/notesMaster" Target="/ppt/notesMasters/notesMaster1.xml" Id="Rbf7f4cedde7544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b5618482fd4700" /><Relationship Type="http://schemas.openxmlformats.org/officeDocument/2006/relationships/notesMaster" Target="/ppt/notesMasters/notesMaster1.xml" Id="R3625deeba68c40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90fad04aa54e72" /><Relationship Type="http://schemas.openxmlformats.org/officeDocument/2006/relationships/notesMaster" Target="/ppt/notesMasters/notesMaster1.xml" Id="R783a81afddfb47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a08cae080b41ac" /><Relationship Type="http://schemas.openxmlformats.org/officeDocument/2006/relationships/notesMaster" Target="/ppt/notesMasters/notesMaster1.xml" Id="R21b398cc8a4944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5e16de06cd4e15" /><Relationship Type="http://schemas.openxmlformats.org/officeDocument/2006/relationships/notesMaster" Target="/ppt/notesMasters/notesMaster1.xml" Id="R7546565e8dc149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c5010f9b464481" /><Relationship Type="http://schemas.openxmlformats.org/officeDocument/2006/relationships/notesMaster" Target="/ppt/notesMasters/notesMaster1.xml" Id="R392822ffdab746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6febce762049f9" /><Relationship Type="http://schemas.openxmlformats.org/officeDocument/2006/relationships/notesMaster" Target="/ppt/notesMasters/notesMaster1.xml" Id="Rf0ee8b372c154c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9b35cbc7904126" /><Relationship Type="http://schemas.openxmlformats.org/officeDocument/2006/relationships/notesMaster" Target="/ppt/notesMasters/notesMaster1.xml" Id="R0b08eefb721142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ac60833a284e61" /><Relationship Type="http://schemas.openxmlformats.org/officeDocument/2006/relationships/notesMaster" Target="/ppt/notesMasters/notesMaster1.xml" Id="Rb7980d770cac48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Åpne med at dette er en foreløpig, kontrollert plan: først bygge verdi der kunden allerede arbeider, deretter koble på regnskapssystemenes API-er når tilgangene er klare.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Poenget er å flytte diskusjonen bort fra chatbot-begrepet. Dette er en kontrollert arbeidsflate der agenten foreslår og dokumenterer, mens mennesker godkjenner handlinger.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Forklar at fasene ikke betyr treg fremdrift. Det betyr at man starter der risikoen er lavest, lærer av ekte arbeidsflyter, og gjenbruker kontrollaget når API-ene er klare.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Presiser at Tripletex og PowerOffice ikke venter til fase 1 er ferdig. Kunden og vi klargjør tilgangene parallelt, slik at automatisering kan kobles på uten omstart.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Dette er en lavrisiko start fordi Outlook allerede er et hovedinntak for arbeid. Agenten skal først lage utkast, sortere og foreslå oppgaver. Automatisk sending bør ikke aktiveres i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Denne fasen kan fungere med eksporterte rapporter og avstemmingsmaler. Det gir tidlig læring om avvik, datakvalitet og ønsket rapportformat før direkte API-integrasjon.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Understrek prinsippet om minste nødvendige tilgang. Ikke start med alle postbokser og alle mapper. Velg noen få pilotkunder, definer godkjenner og bygg kontrollene rundt det.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Dette er et viktig styringspunkt: fase 1 kan starte før API-ene er klare, men API-arbeidet bør starte samtidig slik at fase 2 ikke stopper opp på administrasjon.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Forklar at fase 2 ikke er en ny løsning. Det er samme avstemmingsagent, men datainnhentingen flyttes fra manuelle eksportfiler til system-API-er.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Vær tydelig på ansvarsdelingen: Agenten kan oppdage manglende grunnlag, endringer og avvik, men lønnsansvarlig tar beslutningen før lønn kjøres.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Dette er spesielt viktig fordi kunden håndterer sensitive data: lønn, personopplysninger, klientinformasjon og selskapsdata. Start med read-only og logging før agenten får skrive eller sende noe.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Bruk denne sliden som beslutningsliste. Hvis dere får svar på disse punktene, kan pilotomfang, tilgangsmodell og neste milepæl defineres raskt etter møtet.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Appendix-sliden kan brukes hvis møtet går mer teknisk. Listen er bevisst kort, men dekker hovedpunktene som må eies før integrasjonene er operative.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Avslutt med at god gjennomføring krever tydelige eiere. Kunden eier valg, tilganger og godkjenning. Leverandøren eier bygging, integrasjoner og kontrollmekanismer.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b7b530b9c452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82495134a214362" /><Relationship Type="http://schemas.openxmlformats.org/officeDocument/2006/relationships/slideLayout" Target="/ppt/slideLayouts/slideLayout2.xml" Id="R014fd2f2e6754d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4fd2f2e6754d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5939cb97d64b75" /><Relationship Type="http://schemas.openxmlformats.org/officeDocument/2006/relationships/image" Target="/ppt/media/image.png" Id="Rc0af5ab2930d4814" /><Relationship Type="http://schemas.openxmlformats.org/officeDocument/2006/relationships/image" Target="/ppt/media/image.svg" Id="R59519e3c7ac846f4" /><Relationship Type="http://schemas.openxmlformats.org/officeDocument/2006/relationships/image" Target="/ppt/media/image2.png" Id="R147713ade8b04b09" /><Relationship Type="http://schemas.openxmlformats.org/officeDocument/2006/relationships/image" Target="/ppt/media/image2.svg" Id="R2bca5d6b54444e48" /><Relationship Type="http://schemas.openxmlformats.org/officeDocument/2006/relationships/image" Target="/ppt/media/image3.png" Id="R1929c681ce73417b" /><Relationship Type="http://schemas.openxmlformats.org/officeDocument/2006/relationships/image" Target="/ppt/media/image3.svg" Id="Ra196f62c6f7f4849" /><Relationship Type="http://schemas.openxmlformats.org/officeDocument/2006/relationships/image" Target="/ppt/media/image4.png" Id="R58a746791f8b4e43" /><Relationship Type="http://schemas.openxmlformats.org/officeDocument/2006/relationships/image" Target="/ppt/media/image4.svg" Id="R5460840aec9b40cd" /><Relationship Type="http://schemas.openxmlformats.org/officeDocument/2006/relationships/notesSlide" Target="/ppt/notesSlides/notesSlide1.xml" Id="Rd88ede4e10094c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67f3a04fc34f60" /><Relationship Type="http://schemas.openxmlformats.org/officeDocument/2006/relationships/image" Target="/ppt/media/image5.png" Id="Rd4bd16100b6f4720" /><Relationship Type="http://schemas.openxmlformats.org/officeDocument/2006/relationships/image" Target="/ppt/media/image5.svg" Id="R5776aae043394d83" /><Relationship Type="http://schemas.openxmlformats.org/officeDocument/2006/relationships/image" Target="/ppt/media/image6.png" Id="R7e1e7e4ad1dc45fc" /><Relationship Type="http://schemas.openxmlformats.org/officeDocument/2006/relationships/image" Target="/ppt/media/image6.svg" Id="Raeed3628453a45f8" /><Relationship Type="http://schemas.openxmlformats.org/officeDocument/2006/relationships/image" Target="/ppt/media/image7.png" Id="R34ae954078ac4810" /><Relationship Type="http://schemas.openxmlformats.org/officeDocument/2006/relationships/image" Target="/ppt/media/image7.svg" Id="Rc969e722d275403a" /><Relationship Type="http://schemas.openxmlformats.org/officeDocument/2006/relationships/image" Target="/ppt/media/image8.png" Id="R10c7e5c9474f441a" /><Relationship Type="http://schemas.openxmlformats.org/officeDocument/2006/relationships/image" Target="/ppt/media/image8.svg" Id="Rc448eb86fcd046c7" /><Relationship Type="http://schemas.openxmlformats.org/officeDocument/2006/relationships/image" Target="/ppt/media/image9.png" Id="Rbab7e2e8a32d4b89" /><Relationship Type="http://schemas.openxmlformats.org/officeDocument/2006/relationships/image" Target="/ppt/media/image9.svg" Id="Rdbd24336a6b84971" /><Relationship Type="http://schemas.openxmlformats.org/officeDocument/2006/relationships/notesSlide" Target="/ppt/notesSlides/notesSlide2.xml" Id="Rcc236940b48c45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ffff2a9f4e4114" /><Relationship Type="http://schemas.openxmlformats.org/officeDocument/2006/relationships/notesSlide" Target="/ppt/notesSlides/notesSlide3.xml" Id="R168802f6a2de47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8560d8d3ca4deb" /><Relationship Type="http://schemas.openxmlformats.org/officeDocument/2006/relationships/notesSlide" Target="/ppt/notesSlides/notesSlide4.xml" Id="R36bcbb066d0e4b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170045743046c9" /><Relationship Type="http://schemas.openxmlformats.org/officeDocument/2006/relationships/image" Target="/ppt/media/image10.png" Id="R6e5aaa89605c4e04" /><Relationship Type="http://schemas.openxmlformats.org/officeDocument/2006/relationships/image" Target="/ppt/media/image10.svg" Id="R5c1eef5edba0418f" /><Relationship Type="http://schemas.openxmlformats.org/officeDocument/2006/relationships/image" Target="/ppt/media/image11.png" Id="R444061ca132a4634" /><Relationship Type="http://schemas.openxmlformats.org/officeDocument/2006/relationships/image" Target="/ppt/media/image11.svg" Id="R9568586e5abe45d0" /><Relationship Type="http://schemas.openxmlformats.org/officeDocument/2006/relationships/notesSlide" Target="/ppt/notesSlides/notesSlide5.xml" Id="Raf555cc32f6d43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ba6daad33848b7" /><Relationship Type="http://schemas.openxmlformats.org/officeDocument/2006/relationships/image" Target="/ppt/media/image12.png" Id="R388df8661bba4810" /><Relationship Type="http://schemas.openxmlformats.org/officeDocument/2006/relationships/image" Target="/ppt/media/image12.svg" Id="R640cfeea467e402e" /><Relationship Type="http://schemas.openxmlformats.org/officeDocument/2006/relationships/image" Target="/ppt/media/image13.png" Id="R3245896ee02346f5" /><Relationship Type="http://schemas.openxmlformats.org/officeDocument/2006/relationships/image" Target="/ppt/media/image13.svg" Id="Rb4e9684c93fa4d58" /><Relationship Type="http://schemas.openxmlformats.org/officeDocument/2006/relationships/image" Target="/ppt/media/image14.png" Id="R82998a111def4aa1" /><Relationship Type="http://schemas.openxmlformats.org/officeDocument/2006/relationships/image" Target="/ppt/media/image14.svg" Id="Rd9f584945b374857" /><Relationship Type="http://schemas.openxmlformats.org/officeDocument/2006/relationships/notesSlide" Target="/ppt/notesSlides/notesSlide6.xml" Id="R508275aab3ed4f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4517a5efac4bf2" /><Relationship Type="http://schemas.openxmlformats.org/officeDocument/2006/relationships/notesSlide" Target="/ppt/notesSlides/notesSlide7.xml" Id="R2892847a9ba843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9cf48eac004006" /><Relationship Type="http://schemas.openxmlformats.org/officeDocument/2006/relationships/notesSlide" Target="/ppt/notesSlides/notesSlide8.xml" Id="Rff38c0e97d4f44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e85d9abc834208" /><Relationship Type="http://schemas.openxmlformats.org/officeDocument/2006/relationships/image" Target="/ppt/media/image15.png" Id="R82557873bc3c4717" /><Relationship Type="http://schemas.openxmlformats.org/officeDocument/2006/relationships/image" Target="/ppt/media/image15.svg" Id="Rd6a4380bd0d74446" /><Relationship Type="http://schemas.openxmlformats.org/officeDocument/2006/relationships/image" Target="/ppt/media/image16.png" Id="Rffbe41b0ee614ef3" /><Relationship Type="http://schemas.openxmlformats.org/officeDocument/2006/relationships/image" Target="/ppt/media/image16.svg" Id="R545dcac39be74f24" /><Relationship Type="http://schemas.openxmlformats.org/officeDocument/2006/relationships/image" Target="/ppt/media/image17.png" Id="R8108c650a8194ae0" /><Relationship Type="http://schemas.openxmlformats.org/officeDocument/2006/relationships/image" Target="/ppt/media/image17.svg" Id="Rc90bb32be9784c57" /><Relationship Type="http://schemas.openxmlformats.org/officeDocument/2006/relationships/image" Target="/ppt/media/image18.png" Id="R48b1b1790eee4db9" /><Relationship Type="http://schemas.openxmlformats.org/officeDocument/2006/relationships/image" Target="/ppt/media/image18.svg" Id="R1f468ca5402c4938" /><Relationship Type="http://schemas.openxmlformats.org/officeDocument/2006/relationships/image" Target="/ppt/media/image19.png" Id="Rb7808f5990ed47e8" /><Relationship Type="http://schemas.openxmlformats.org/officeDocument/2006/relationships/image" Target="/ppt/media/image19.svg" Id="Rf9d36845ed784445" /><Relationship Type="http://schemas.openxmlformats.org/officeDocument/2006/relationships/notesSlide" Target="/ppt/notesSlides/notesSlide9.xml" Id="R04bfe6f9331640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ddfad644944575" /><Relationship Type="http://schemas.openxmlformats.org/officeDocument/2006/relationships/image" Target="/ppt/media/image20.png" Id="Rb153df7bf7874bfc" /><Relationship Type="http://schemas.openxmlformats.org/officeDocument/2006/relationships/image" Target="/ppt/media/image20.svg" Id="R8cee865dfdc942cf" /><Relationship Type="http://schemas.openxmlformats.org/officeDocument/2006/relationships/image" Target="/ppt/media/image21.png" Id="Re888f675b4ea4d71" /><Relationship Type="http://schemas.openxmlformats.org/officeDocument/2006/relationships/image" Target="/ppt/media/image21.svg" Id="R5c0b8f36d1b54bd0" /><Relationship Type="http://schemas.openxmlformats.org/officeDocument/2006/relationships/image" Target="/ppt/media/image22.png" Id="R842d8bb1c614471f" /><Relationship Type="http://schemas.openxmlformats.org/officeDocument/2006/relationships/image" Target="/ppt/media/image22.svg" Id="R51d94aa841b0460c" /><Relationship Type="http://schemas.openxmlformats.org/officeDocument/2006/relationships/image" Target="/ppt/media/image23.png" Id="Re71aeeae383344d6" /><Relationship Type="http://schemas.openxmlformats.org/officeDocument/2006/relationships/image" Target="/ppt/media/image23.svg" Id="R3f259cc3b73d401e" /><Relationship Type="http://schemas.openxmlformats.org/officeDocument/2006/relationships/image" Target="/ppt/media/image24.png" Id="R67b938fd21d14093" /><Relationship Type="http://schemas.openxmlformats.org/officeDocument/2006/relationships/image" Target="/ppt/media/image24.svg" Id="Ra267031a94364990" /><Relationship Type="http://schemas.openxmlformats.org/officeDocument/2006/relationships/notesSlide" Target="/ppt/notesSlides/notesSlide10.xml" Id="R13ed3a47698247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a84e42daee4985" /><Relationship Type="http://schemas.openxmlformats.org/officeDocument/2006/relationships/image" Target="/ppt/media/image25.png" Id="R44308a4b2c7c4d8d" /><Relationship Type="http://schemas.openxmlformats.org/officeDocument/2006/relationships/image" Target="/ppt/media/image25.svg" Id="R6a3dd3064d0744cf" /><Relationship Type="http://schemas.openxmlformats.org/officeDocument/2006/relationships/notesSlide" Target="/ppt/notesSlides/notesSlide11.xml" Id="R7a0b684947324f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f5a6824b6c41e9" /><Relationship Type="http://schemas.openxmlformats.org/officeDocument/2006/relationships/notesSlide" Target="/ppt/notesSlides/notesSlide12.xml" Id="R08bd42416d74487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86ea5cdbb7443d" /><Relationship Type="http://schemas.openxmlformats.org/officeDocument/2006/relationships/notesSlide" Target="/ppt/notesSlides/notesSlide13.xml" Id="R23372b0b641e43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6e17f61050410e" /><Relationship Type="http://schemas.openxmlformats.org/officeDocument/2006/relationships/image" Target="/ppt/media/image26.png" Id="R0af55f956bfb4414" /><Relationship Type="http://schemas.openxmlformats.org/officeDocument/2006/relationships/image" Target="/ppt/media/image26.svg" Id="Ra43241a166be4a70" /><Relationship Type="http://schemas.openxmlformats.org/officeDocument/2006/relationships/image" Target="/ppt/media/image27.png" Id="R2ece94d958e847d6" /><Relationship Type="http://schemas.openxmlformats.org/officeDocument/2006/relationships/image" Target="/ppt/media/image27.svg" Id="R64482ca334504c57" /><Relationship Type="http://schemas.openxmlformats.org/officeDocument/2006/relationships/notesSlide" Target="/ppt/notesSlides/notesSlide14.xml" Id="Rbf8be0b5a97040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577859-D880-45B5-A7B8-9C6C7C1A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EC872-F632-43AF-87A0-F1C50AA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DE0D528C-3AA2-4221-9280-D4B450C2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5F655C12-25DB-4FC4-BBB0-6271050B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9C7D7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B9C7D7"/>
                </a:solidFill>
                <a:latin typeface="Montserrat"/>
                <a:ea typeface="Montserrat"/>
                <a:cs typeface="Montserrat"/>
              </a:rPr>
              <a:t>F O R E L Ø P I G   P L A 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D4505-911E-4F86-BEB7-F330B6FD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8096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Foreløpig plan: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E-postagent, avstemmingsagent og videre automatisering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F275F-9FB3-4FDF-B6E2-7ADE8EA5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4E2"/>
                </a:solidFill>
                <a:latin typeface="Roboto"/>
                <a:ea typeface="Roboto"/>
                <a:cs typeface="Roboto"/>
              </a:defRPr>
            </a:pPr>
            <a:r>
              <a:rPr sz="1350" b="0">
                <a:solidFill>
                  <a:srgbClr val="C8D4E2"/>
                </a:solidFill>
                <a:latin typeface="Roboto"/>
                <a:ea typeface="Roboto"/>
                <a:cs typeface="Roboto"/>
              </a:rPr>
              <a:t>Fra trygg første pilot til automatisert avstemming og lønnskjøringsassistent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A0DE8-BD86-40EB-B6BE-0A57BB37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20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9525">
            <a:solidFill>
              <a:srgbClr val="00A6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85DAA-F208-4D40-B093-44C41AB1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C2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11C2F"/>
                </a:solidFill>
                <a:latin typeface="Montserrat"/>
                <a:ea typeface="Montserrat"/>
                <a:cs typeface="Montserrat"/>
              </a:rPr>
              <a:t>Outlook /</a:t>
            </a:r>
          </a:p>
          <a:p xmlns:a="http://schemas.openxmlformats.org/drawingml/2006/main">
            <a:pPr algn="ctr">
              <a:defRPr sz="975" b="1">
                <a:solidFill>
                  <a:srgbClr val="111C2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11C2F"/>
                </a:solidFill>
                <a:latin typeface="Montserrat"/>
                <a:ea typeface="Montserrat"/>
                <a:cs typeface="Montserrat"/>
              </a:rPr>
              <a:t>SharePoint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8DD5C-25C5-40E5-A8AB-1E90A1D6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482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CB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CC0A4-DAC7-4E7C-B00F-28931FF0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00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CCB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D0568-2F0E-4A79-816C-64E879D0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29150"/>
            <a:ext cx="120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3140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4BF09-BED6-4347-9F52-EB1CB2B6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0540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Avstemming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+ e-post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684DA-AA3A-4094-BB41-029EBAE9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482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CB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7543A-E61C-4DE8-BDDF-451EA154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000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CCB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92A6B-F6CC-4610-A49E-121C74E1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29150"/>
            <a:ext cx="120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3140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296A1-BAAA-4431-9B15-F2E18A4A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0540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API-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integrasjon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52648-E73D-41B6-840C-88FBC71B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482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CB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0DFFF7-FD3A-435D-9A3A-2A255A5D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00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CCB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45979-ECD8-49EC-8413-DBA2247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29150"/>
            <a:ext cx="1200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A42"/>
          </a:solidFill>
          <a:ln xmlns:a="http://schemas.openxmlformats.org/drawingml/2006/main" w="9525">
            <a:solidFill>
              <a:srgbClr val="3140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D6C2A-A584-4A17-99C9-3CE88A7F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05400"/>
            <a:ext cx="100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Lønn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B1BAA5-B3D5-436C-BC06-4AF714D6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C820FE-FED3-4FFF-B045-BF7C1A3E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EA0B5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8EA0B5"/>
                </a:solidFill>
                <a:latin typeface="Roboto"/>
                <a:ea typeface="Roboto"/>
                <a:cs typeface="Roboto"/>
              </a:rPr>
              <a:t>Foreløpig møteunderlag | AI-agentløsning for regnskapskunde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32E3A-DC1F-44DC-AF2E-E8C64C9E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EA0B5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8EA0B5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f5ab2930d4814">
            <a:extLst>
              <a:ext uri="{96DAC541-7B7A-43D3-8B79-37D633B846F1}">
                <asvg:svgBlip xmlns:asvg="http://schemas.microsoft.com/office/drawing/2016/SVG/main" r:embed="R59519e3c7ac846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5875" y="47815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713ade8b04b09">
            <a:extLst>
              <a:ext uri="{96DAC541-7B7A-43D3-8B79-37D633B846F1}">
                <asvg:svgBlip xmlns:asvg="http://schemas.microsoft.com/office/drawing/2016/SVG/main" r:embed="R2bca5d6b54444e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14750" y="47815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9c681ce73417b">
            <a:extLst>
              <a:ext uri="{96DAC541-7B7A-43D3-8B79-37D633B846F1}">
                <asvg:svgBlip xmlns:asvg="http://schemas.microsoft.com/office/drawing/2016/SVG/main" r:embed="Ra196f62c6f7f48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38875" y="47815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746791f8b4e43">
            <a:extLst>
              <a:ext uri="{96DAC541-7B7A-43D3-8B79-37D633B846F1}">
                <asvg:svgBlip xmlns:asvg="http://schemas.microsoft.com/office/drawing/2016/SVG/main" r:embed="R5460840aec9b40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0" y="47815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739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5CCDEA-D1B7-4735-A58A-5F73490B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2DC7A55A-BD77-4D84-A5AF-057B0CF1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6D7DD31A-DD1A-4B92-86BE-83E1E9A1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M Å L B I L D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18BBB-EA60-41D6-B528-DF19125F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Målet er en kontrollert AI-agentplattform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1B0EC-6C66-4621-8D5B-64E89243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0BE1C-5BE2-42C5-8931-465F8741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E-post og kundeoppfølging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A3FCA-0D53-4280-85B1-BBD05687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B29C5-ED72-49B1-8288-42BDEB8E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Avstemmingsarbeid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DD3AC-8AFA-4A5D-A263-071B44DC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00197-8EF0-4B93-B15C-55D251D5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Lønnskjøring pre-check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DDCA7-C65D-4CB3-8BAB-6FFE5CB9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ACBE2-6F7D-4450-B142-12D47A65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Forslag, prioritering og dokumentasjon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F8D59-8DD9-4528-994B-EF9CF8D7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171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DDF7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3C398-E746-4BF7-A4D3-EEF11913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17233A"/>
                </a:solidFill>
                <a:latin typeface="Roboto"/>
                <a:ea typeface="Roboto"/>
                <a:cs typeface="Roboto"/>
              </a:rPr>
              <a:t>Menneske godkjenner før noe sendes, registreres eller endres.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F04F1-4557-481D-B42F-7C90E4C0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1066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9F05D-1F6E-429C-B688-8D08BFC4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3370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46D66-1A66-4D2B-9202-13672752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385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615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rapporter, e-post,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C1495-177C-4AE5-A0DC-4C8BDE73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337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701F2-3DF8-4B00-802A-D7149DFD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860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185EB-796A-4693-987D-3E471ADA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81250"/>
            <a:ext cx="1066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11069-EBA1-4688-93F6-D3C24C66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3370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6A17EA-FB87-416C-BDCC-39B00256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385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615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tolker og foreslår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3D1596-6FD8-4B7A-B2CF-965D3A68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9337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B20CE4-BBA6-4A5F-9F8E-023455C9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860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B6F41-A0D1-444C-B117-917CE67B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81250"/>
            <a:ext cx="1066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5B4EA3-931A-499D-97E2-6E298295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3370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Forslag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34CAE6-3E3A-46B6-8D40-EA006F21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2385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615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utkast, avvik, oppgave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DAA03B-93C0-47D5-8CCD-96A83B8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9337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7F4ED-5EFF-44B5-9715-2C970BE6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860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F3317A-6BC8-45AD-B604-5D034A08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81250"/>
            <a:ext cx="1066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8E8ACB-B5BA-46AC-8BCB-9D6AD0E4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3370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Godkjenning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075CA-4433-4382-8D25-7E4F37A4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2385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615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menneske i løkken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C59065-2DC3-46F8-9A9D-04E9641B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9337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C1ABA3-175D-4DAA-9FE0-2AA08C79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8860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9D414F-4410-4D10-930F-22C86FF6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381250"/>
            <a:ext cx="1066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0E6229-8653-4B3F-942D-39C68A5B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933700"/>
            <a:ext cx="87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Handling / logg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6B7A37-5E68-48FD-8978-3927AF31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838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615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sendes, lagres, spores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C360EF-597F-4B07-9F97-59D650AC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93C922-8692-4BE0-9F09-11A99EED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Plattformen bygges rundt kontroll, sporbarhet og gjenbrukbare arbeidsflyter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E2671C-69B9-478A-AFB7-95E52C71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d16100b6f4720">
            <a:extLst>
              <a:ext uri="{96DAC541-7B7A-43D3-8B79-37D633B846F1}">
                <asvg:svgBlip xmlns:asvg="http://schemas.microsoft.com/office/drawing/2016/SVG/main" r:embed="R5776aae043394d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57850" y="25717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e7e4ad1dc45fc">
            <a:extLst>
              <a:ext uri="{96DAC541-7B7A-43D3-8B79-37D633B846F1}">
                <asvg:svgBlip xmlns:asvg="http://schemas.microsoft.com/office/drawing/2016/SVG/main" r:embed="Raeed3628453a45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15150" y="25717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e954078ac4810">
            <a:extLst>
              <a:ext uri="{96DAC541-7B7A-43D3-8B79-37D633B846F1}">
                <asvg:svgBlip xmlns:asvg="http://schemas.microsoft.com/office/drawing/2016/SVG/main" r:embed="Rc969e722d27540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72450" y="25717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7e5c9474f441a">
            <a:extLst>
              <a:ext uri="{96DAC541-7B7A-43D3-8B79-37D633B846F1}">
                <asvg:svgBlip xmlns:asvg="http://schemas.microsoft.com/office/drawing/2016/SVG/main" r:embed="Rc448eb86fcd046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29750" y="25717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7e2e8a32d4b89">
            <a:extLst>
              <a:ext uri="{96DAC541-7B7A-43D3-8B79-37D633B846F1}">
                <asvg:svgBlip xmlns:asvg="http://schemas.microsoft.com/office/drawing/2016/SVG/main" r:embed="Rdbd24336a6b849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87050" y="25717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932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BA9984-F1D7-4BAB-8FCA-2AB84384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659D1CF3-4BD8-49EE-8258-C95AB3B6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589A375D-AFB4-4DB7-9507-5B845AB1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U T B Y G G I N G S L O G I K 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893F5-F349-4FC9-B9BF-258CB38B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Hvorfor vi bygger dette i steg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C255E-481B-43EF-B7F7-1FAC375F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910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111C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5ADC4-0F76-4584-843C-5C15B17A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81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48342-02DD-4152-9E9B-92B3DCF5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6672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6E2F0"/>
                </a:solidFill>
                <a:latin typeface="Roboto"/>
                <a:ea typeface="Roboto"/>
                <a:cs typeface="Roboto"/>
              </a:defRPr>
            </a:pPr>
            <a:r>
              <a:rPr sz="863" b="0">
                <a:solidFill>
                  <a:srgbClr val="D6E2F0"/>
                </a:solidFill>
                <a:latin typeface="Roboto"/>
                <a:ea typeface="Roboto"/>
                <a:cs typeface="Roboto"/>
              </a:rPr>
              <a:t>Outlook og SharePoint gir rask første verdi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F39DF-F9A2-4A77-A27F-6E8BA27C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5910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B66C9-6F5F-4B95-AD8C-7CAE136E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5434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71EEF-16FC-40DE-81CA-C2157E55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099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C5AAD-DC25-4D81-B793-FF267728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00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Automatisering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7DBD5-EC06-4B23-A45C-1A8988BF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86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8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API-er kobles på når tilgang og datakvalitet er klar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0E427-520F-4AC9-93AC-B02ACB39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8100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0BC86-F220-49C0-A7B9-2B18B7CB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62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22A6B-10DA-462E-B802-CE92F2D5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2890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E2311-E8C7-4996-9F6F-AAFCB450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19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Utvidelse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A693E-4CA2-475E-BC42-229D196B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1051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8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Samme fundament brukes til lønn og nye kontroller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F3A29-F876-4089-AB12-3626C6D7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926DB-D61D-4F44-A036-E292C84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33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Raskere første verdi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08248-C3AD-4C90-9037-D3546D30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8C69C-2BF3-437C-9738-23645AD7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33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Lavere GDPR- og sikkerhetsrisiko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BBE3CA-01B1-4D27-8E1B-2F8423D7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539853-E274-4EAC-968C-D9719205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433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Bedre datagrunnlag før full automatisering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C40D27-86FE-4FC6-B3C3-248DA920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4E60B5-8F0A-40DE-90CF-8271127E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33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Samme fundament kan brukes videre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7D081F-11F4-4C82-83BA-D2F4DD7C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E1CF5-2C1B-4020-90A4-72C7210E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Stegvis utbygging reduserer risiko uten å låse sluttmålet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E5400F-7888-4A3D-8315-218E58C9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18184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9F6AF9-7CAD-4685-B9EA-DB25DDCA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DD21689E-5193-4F51-A6CB-73DB2C9B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BCABD10B-5A1F-4B87-AED0-7F9BD2DB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F A S E P L A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40EE3-334D-4E90-8320-099CEF68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Foreslått faseplan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7C84D-F064-4E73-87FD-89AC0E15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238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111C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B8802-A018-4122-9B6F-CA13D294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5DAD8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95DAD8"/>
                </a:solidFill>
                <a:latin typeface="Montserrat"/>
                <a:ea typeface="Montserrat"/>
                <a:cs typeface="Montserrat"/>
              </a:rPr>
              <a:t>FASE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88BC4-22C6-43FB-9C58-D72E227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Outlook + SharePoint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30E8D-BFD7-44D7-9934-3AE3F5D9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28194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2F0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D6E2F0"/>
                </a:solidFill>
                <a:latin typeface="Roboto"/>
                <a:ea typeface="Roboto"/>
                <a:cs typeface="Roboto"/>
              </a:rPr>
              <a:t>E-postagent + avstemmingsagent med filer, rapporter og menneskelig godkjenning.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D7FE3-783A-42A7-B863-5D502AFB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41CA6-07A7-4F47-86DA-FC37372C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A6A6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00A6A6"/>
                </a:solidFill>
                <a:latin typeface="Montserrat"/>
                <a:ea typeface="Montserrat"/>
                <a:cs typeface="Montserrat"/>
              </a:rPr>
              <a:t>FASE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FEDCB-59AC-45DE-9EFD-1218C20D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79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Tripletex / PowerOffice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14B0E-E8EC-471D-A8FD-4CD5D873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6100"/>
            <a:ext cx="28194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Automatisert avstemmingsagent med direkte datainnhenting og samme kontrollflate.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B623C-12EE-4D2C-84EA-C6B00638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238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BAB67-94CA-4225-923A-70068434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A6A6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00A6A6"/>
                </a:solidFill>
                <a:latin typeface="Montserrat"/>
                <a:ea typeface="Montserrat"/>
                <a:cs typeface="Montserrat"/>
              </a:rPr>
              <a:t>FASE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5C4F8-9090-4334-AF3E-B7489542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2819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Lønnskjøringsagent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2B54B1-92F2-4858-8DE2-5D2851DE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8194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Pre-check, avvik, oppfølging og godkjenning før lønn kjøres.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FCEE4-32F0-4CEC-A44E-8B26C402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147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280AC-A216-41C2-9E2F-DA0406F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670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D4AAA-8401-442E-A866-1C46AA9A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147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A035D-4E81-401A-B598-75C8D7E2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670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E12BE-5AAB-4095-BF37-671E4883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9720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DDF7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3C230-7BF2-4538-A09B-A1CB3872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5029200"/>
            <a:ext cx="440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API-klargjøring skjer parallelt med fase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D14EC-72B6-451A-917D-37123A06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52AA0-291B-4B18-B520-774AA714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Fasene deler dashboard, logging, sikkerhet og godkjenningsmønster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5AFB06-4852-45BC-9B76-BDB36452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31392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242C13-EDE5-4771-92CE-CDF7D55A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AA53CDBD-7D47-490A-8717-588DB51B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A0B39196-642E-4EAD-95BC-1ED9033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F A S E  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02475-12CC-4008-9831-0E2E4E44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E-postagent: rask verdi med Outlook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4E75B-4CA2-46D7-8175-41CFDA94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1F47F-1391-4140-BFB1-BCF27A19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Sorterer innkommende e-post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39FC8-A4B9-40EE-B98A-D8932C77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D17E3-D946-4F98-88E6-712CEDAA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Kobler e-post til kunde/tema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AEFCA-633F-4543-9F07-4B479D7E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B4444-834C-4671-979E-BBA3AB86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Lager svarutkast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213F2-10BC-4B31-88AF-607E94C3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C0168-06D5-4BB6-A55E-F1EBB736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Foreslår intern oppgave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0945D-DC65-4139-B6A8-F0277FDE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97447-09C0-4E36-B69F-364BC39B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Flagger hast og sensitivitet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46642-921B-4D01-8D2F-73B4D9C5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600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E048A-F6C1-4EE6-88FC-AF066456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5747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Outlook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5AC18-5E78-4A32-A0B8-357E8C09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24175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8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innkommende e-post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5CB4F-E20B-4030-AC7E-48527E2C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289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88484-98B0-4A47-925E-60A43392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81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E967F-B673-4EFC-B68D-2754D434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1600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ECA34-C118-447C-BE29-B4E6B142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5747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AI-agent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81CAD-06DC-4242-9517-DE5CFE32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24175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8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klassifiserer og foreslår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CE084-999A-4497-86A5-BCE84959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289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B5FD4-131D-4186-BE98-54319971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9813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245EE-B691-443C-8259-B3213918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111C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FC8383-E8CA-44F4-A5D6-39CB84D4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196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Svarutkast / oppgave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7B623F-9339-43FE-B080-BEC9F01D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0535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8D4E2"/>
                </a:solidFill>
                <a:latin typeface="Roboto"/>
                <a:ea typeface="Roboto"/>
                <a:cs typeface="Roboto"/>
              </a:defRPr>
            </a:pPr>
            <a:r>
              <a:rPr sz="863" b="0">
                <a:solidFill>
                  <a:srgbClr val="C8D4E2"/>
                </a:solidFill>
                <a:latin typeface="Roboto"/>
                <a:ea typeface="Roboto"/>
                <a:cs typeface="Roboto"/>
              </a:rPr>
              <a:t>først som forslag, ikke automatisk sending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1AF67C-FC4E-4052-A014-27E35206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1C2CB7-6867-45F5-B372-EC659AC2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E-postagenten starter med forslag og oppgavehjelp, ikke autonom utsending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C6B3D9-6562-41D6-86C2-F8BE13D5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aaa89605c4e04">
            <a:extLst>
              <a:ext uri="{96DAC541-7B7A-43D3-8B79-37D633B846F1}">
                <asvg:svgBlip xmlns:asvg="http://schemas.microsoft.com/office/drawing/2016/SVG/main" r:embed="R5c1eef5edba041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81700" y="26670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061ca132a4634">
            <a:extLst>
              <a:ext uri="{96DAC541-7B7A-43D3-8B79-37D633B846F1}">
                <asvg:svgBlip xmlns:asvg="http://schemas.microsoft.com/office/drawing/2016/SVG/main" r:embed="R9568586e5abe45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43950" y="26670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784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028F91-E380-45C1-9AF8-6B518C01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9A18E369-AD60-4ECC-A458-73DB4199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435BE5DF-AF29-4629-AAD3-6B074668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F A S E  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C7A47-1197-4F9A-A003-7E82DE57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Avstemmingsagent: første versjon med rapporter i SharePoint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78389-9D73-4380-96CF-4D032C28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486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761BC-410A-4B1D-8207-768BB782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Kunden legger rapporter i SharePoint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443EB-7743-44CA-BDCE-68AD1F16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DA2C3-92D5-4448-A30F-872D5EB9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saldobalanse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EF688-5C16-45EE-82BA-44816B97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2FFCD-B4A8-4F9D-966D-B6E4619E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hovedbok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76282-B86D-4A46-9A14-74194910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BB9AE-EB2B-431C-8DE8-9E19C1C9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bankrapport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03135-7A39-46C9-AAEB-0847A647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64A5E-F363-493A-9482-3A4EAD9F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åpne poster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A24AB-900B-4704-A98A-7016C5FA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62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EDA01-19A2-47AE-8D65-7E15D3AA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2428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50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avstemmingsmaler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75B6C-F232-4ED6-9FC5-B2282F00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67050"/>
            <a:ext cx="1657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0284E-BC41-4730-8B03-0D75C6F7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670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F52A4-70F9-4BCC-9B33-64322A32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3377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8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leser, sammenligner, forklarer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9372C-868D-4257-AB44-CE8E8E0A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766D2-C723-4BF2-9DBA-5A8116C8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90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7C5003-AADA-414B-9C9F-9C6542E6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1CF0C-D5F8-4566-B2D5-9EF6368B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909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6D193C-4F51-4CB9-94E0-D4D1058A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3486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111C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53D38C-BCE0-4711-AB9F-CAE641F1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62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Agenten lager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2FB7F8-658A-4DEB-B8F6-96FAA567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D1E839-53A0-4C5E-92B8-CA5B9260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28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funn og avvik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55128A-C8BC-4EA8-A45D-459963FF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7A0CE0-13F4-454A-B946-7F5F75E1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forslag til neste handling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CA9777-E7CB-4F6D-B06B-145AF3D7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311CAE-F055-4F31-92C6-D51F8C17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intern oppgave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F11824-37C6-4778-8746-95880799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9D16B3-A930-4F5F-8FFC-A1149B19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dokumentasjon/logg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BE7CF5-C077-4CC2-94A6-68A5355F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E50D3D-0AAF-4DC8-9773-48A0F4B3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SharePoint-versjonen beviser avstemmingslogikken før regnskapssystemenes API-er kobles på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578FC0-2DB3-4BFC-9B9B-18702AE5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df8661bba4810">
            <a:extLst>
              <a:ext uri="{96DAC541-7B7A-43D3-8B79-37D633B846F1}">
                <asvg:svgBlip xmlns:asvg="http://schemas.microsoft.com/office/drawing/2016/SVG/main" r:embed="R640cfeea467e40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305050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5896ee02346f5">
            <a:extLst>
              <a:ext uri="{96DAC541-7B7A-43D3-8B79-37D633B846F1}">
                <asvg:svgBlip xmlns:asvg="http://schemas.microsoft.com/office/drawing/2016/SVG/main" r:embed="Rb4e9684c93fa4d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95900" y="32766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98a111def4aa1">
            <a:extLst>
              <a:ext uri="{96DAC541-7B7A-43D3-8B79-37D633B846F1}">
                <asvg:svgBlip xmlns:asvg="http://schemas.microsoft.com/office/drawing/2016/SVG/main" r:embed="Rd9f584945b3748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34350" y="2305050"/>
            <a:ext cx="361950" cy="36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6799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71825D-B5A2-482A-BBA7-9178A6A6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1E27517C-23AE-4226-A8C5-FCB55F2F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24225B05-D7F0-4BB5-B02B-E69DD3E9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K L A R G J Ø R I N 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7067A-EFCD-4DA0-80BC-29A9738B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Klargjøring for Outlook + SharePoint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40C49-7612-486F-B0A8-8608F7EC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3CE59-1600-4002-8928-E95DD219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4310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11D40-1DCD-4860-9329-79DA2022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Kunden avklarer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6002A-D9E4-4FDC-B859-45472FA8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Vi bygger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127B2-87CD-4460-8C7B-E3628607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C3AAD-EE0A-4CC3-B84C-22ABD3B4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hvilke postbokser agenten får lese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CDA6A-5A15-4652-8ECC-B1570A6E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983E7-8237-4ADB-8877-95FE643B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hvilke SharePoint-mapper agenten får lese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5CD5D-0C8A-4799-B094-1FA8C8A4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0267D-4FB3-462D-9EFC-D7398094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hvilke pilotkunder som skal brukes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E1B5A-19EA-483C-A068-EFC4527A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B0F13-5BC2-450E-BBB1-FBB39704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hvem som godkjenner forslagene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65D87-806A-4DEF-8769-CC9D3DCA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71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1FF45-6072-478A-AC2A-C24FC26C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956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Microsoft Graph-integrasjon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F72A0C-A721-40C9-BBC6-D177FFF6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1DFC9-0955-4E72-BB17-9E3CEF5F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dashboard/arbeidsflate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CBC54-68F6-43CE-88A7-1BA0AB3A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7804C-FC10-4492-8ACD-49E3D6B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logging og godkjenning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C196F2-7F5A-430F-B7EB-ACB4F914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43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47E0C-ECD8-41AE-A791-2D8CB23B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agentlogikk for e-post og avstemming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BCA77E-6D30-4639-8423-05A42406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95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A4209-8552-4403-9C81-B76DEB51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7690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DDF7F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E88E29-BD52-4713-9F37-5D8A3588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34050"/>
            <a:ext cx="3124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7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Start med minst mulig tilgang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935A2-75BD-4BE8-9693-B994F99D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AFB532-3963-4E98-B4D7-A7101CC2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Første pilot bør være smal nok til å gi trygg læring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0470AC-A10D-4C97-8BF4-471093CE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49242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C14DAE-230C-4767-9EAF-2971AE7B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A5C21F14-AAE8-48A0-A432-6527CD69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EED54513-4A55-40C6-8EC3-64822CF7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P A R A L L E L T   A R B E I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E1F1C-CF96-4A06-A786-F6008733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API-tilganger klargjøres parallelt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6661BF-3F73-43FA-B53E-BC7635AC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572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E0A86-270D-4E4D-9E8B-88CD7FEC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38350"/>
            <a:ext cx="4572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E05A5-0BE8-4FC5-BCC1-6A065EE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Tripletex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2F177-51A5-4532-9F40-CB522C7B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66D72-35EE-4D9F-BE0B-E6A5F390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API/integrasjon aktivert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A2246-A14A-4337-B077-9221C33C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D87C2-ECF6-4518-84D4-34FDB50A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employee 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84FF2-B0F0-4F21-B542-55602B68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84F45-2FF8-446F-8656-7BD3BA85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riktige rettigheter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2C473-0A48-4612-8F5E-B3B744F3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69638-713E-4A87-A629-12D023D3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pilotklienter valgt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9E728-0173-49C9-8AC5-9067B204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241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PowerOffice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BF0A4-23B8-46A7-B751-F09D8FE6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EB2B2-FC2E-45A8-8541-E84A2E6A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956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integrasjon aktivert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58AF2-9D98-48FF-9F7F-145486EB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14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B5893-CCCD-478C-A3E0-7501389B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385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client key per klient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39CDF-8937-4233-A59D-202B65B5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57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ED2BC-F03B-4339-AEEE-8AD78983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814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riktige rettigheter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B505F-5CE8-4A41-B173-DAC730F0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3491C-8908-473E-89B7-A7A7E2A9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243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pilotklienter valgt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E02097-829C-4240-91B6-E042AAF0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292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Bygger fase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2560DD-850E-4230-A045-B6A96F70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05400"/>
            <a:ext cx="6419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22B184-E86B-414A-8798-A7015AD8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196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900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Outlook/SharePoint-agent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F825F-0B51-4329-BF47-FD277E02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86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Klargjør 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F27723-68DF-4460-939B-CCD3DC55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62600"/>
            <a:ext cx="6419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C97CBE-1B1A-4996-83CD-1055F08A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768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900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Tripletex/PowerOffice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AD409C-618E-4DE6-9697-F33B74D9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6987F6-8E66-45AE-8C13-C45481C7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Utvikleroppsett og API-koblinger registreres mens første agent bygges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33092F-82B8-42AF-92C8-72C2C6F6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82631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662520-2471-4FB3-A026-837BED62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0D8E2C48-186E-4125-BBC4-AE4CC79D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DBB3D7EC-8E01-445D-BDD1-8AC5890B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F A S E 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16EB6-7B1C-4434-B2EE-9C9AC710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Når API-ene er klare: automatisert avstemming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7BD6E-737C-4C4E-BCA3-977DC6AA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B2702-BD85-4AD1-B553-A76BCD2E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804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Fra manuell filopplasting til automatisk datainnhenting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1F187-31C0-4D03-AF49-11C16719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88427-C9F7-42F9-A11F-CA418FC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804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Henter hovedbok, saldobalanse, åpne poster, bilag og rapportdata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92422-0307-4BCC-BD03-4C610E2D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A8BB6-E6FF-40FF-9491-7256684E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8048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Gir raskere avstemming, færre manuelle steg og bedre oversikt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D2771-A1E2-4596-8DD9-9FE79927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Før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3501A-71AF-4344-A108-3E882A8F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62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9F61B-4F7C-4382-B5A9-F0C44D2F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624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Eksport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4D1CE-56DE-4C15-8F87-63DC0890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006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7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F2F7F-C981-4FB4-91C3-F92F7860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529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967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5C92C-37F6-44E1-A984-BBB90CFF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6D6B8-7E09-4AB8-93BD-926A02DC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6247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SharePoint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FEE7B-E5E4-4D48-9C93-F8B964AB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006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7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83E3C-0B74-4178-933A-B5EB1746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529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967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B0089-6A27-43B8-A80F-ADB0F0C9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62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B241C-76D1-41A6-A80C-3E32FBE9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624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F9359-888F-4A20-883B-57C8481E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704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Etter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99EE0-D651-4175-8108-B22334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1962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7DCE9-F6CC-4135-A360-C9853732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62475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Tripletex /</a:t>
            </a:r>
          </a:p>
          <a:p xmlns:a="http://schemas.openxmlformats.org/drawingml/2006/main">
            <a:pPr algn="l">
              <a:def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PowerOffice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B7703-4EB3-4671-AF70-5C44207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8006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B763EB-6B6F-4242-8F63-C24C1839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529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B639FB-9307-4E77-8FA9-022D2B7B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362450"/>
            <a:ext cx="1123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D9D65-36AB-400F-BC68-DF627E2C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914900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A82755-0F15-4BCA-98BB-F49B507A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3B2A78-A835-4709-959C-C02754DD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Samme dashboard, logging og godkjenning gjenbrukes når datakilden endres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5B2A77-6A7E-4DEA-A50E-FEC90404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09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57873bc3c4717">
            <a:extLst>
              <a:ext uri="{96DAC541-7B7A-43D3-8B79-37D633B846F1}">
                <asvg:svgBlip xmlns:asvg="http://schemas.microsoft.com/office/drawing/2016/SVG/main" r:embed="Rd6a4380bd0d744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" y="45720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e41b0ee614ef3">
            <a:extLst>
              <a:ext uri="{96DAC541-7B7A-43D3-8B79-37D633B846F1}">
                <asvg:svgBlip xmlns:asvg="http://schemas.microsoft.com/office/drawing/2016/SVG/main" r:embed="R545dcac39be74f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05200" y="45720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8c650a8194ae0">
            <a:extLst>
              <a:ext uri="{96DAC541-7B7A-43D3-8B79-37D633B846F1}">
                <asvg:svgBlip xmlns:asvg="http://schemas.microsoft.com/office/drawing/2016/SVG/main" r:embed="Rc90bb32be9784c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0" y="45720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1b1790eee4db9">
            <a:extLst>
              <a:ext uri="{96DAC541-7B7A-43D3-8B79-37D633B846F1}">
                <asvg:svgBlip xmlns:asvg="http://schemas.microsoft.com/office/drawing/2016/SVG/main" r:embed="R1f468ca5402c49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81950" y="45720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08f5990ed47e8">
            <a:extLst>
              <a:ext uri="{96DAC541-7B7A-43D3-8B79-37D633B846F1}">
                <asvg:svgBlip xmlns:asvg="http://schemas.microsoft.com/office/drawing/2016/SVG/main" r:embed="Rf9d36845ed7844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34700" y="45529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511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F729DA-F7EC-483F-9B06-10FFB97C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74C2361C-9D87-4B11-8D34-CE8CFBFE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C87AD49B-7884-42B1-8E99-793F2E62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F A S E 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81198-AC01-41C2-8F84-2F1CB02A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Lønnskjøringsagent: kontroll før lønn kjøres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0F318-20C6-462E-8BA5-209609BA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95AC3-0D1B-4A0F-8BE8-FEB9574A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33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Sjekker manglende lønnsgrunnlag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5C289-A0EF-49CC-95B0-9158F756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C23C7-E666-4A71-A93B-E5919DB9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433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Finner avvik fra forrige periode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A92C1-AE0E-47AF-A582-A9488E19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49EFB-C4A3-432B-A353-78753823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33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Lager sjekkliste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0317A-E4B6-4483-A7FC-83374424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6DD84-F5FA-4F55-BC64-38A43010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433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Lager oppfølgingsmelding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6244E-8113-432E-9EDC-C9DDFCFF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56AC5-46D8-442C-B7A8-B5DB5B6C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433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Viser risiko før lønnskjøring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0DDBB-60DC-4E75-8F02-212FEC81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52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AFDA1-C859-4F51-B760-171F8E69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5267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Lønnskalender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A17B31-BA91-4AF6-A2B9-80321970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1937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8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frist og periode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0658D-754C-4DC0-8D16-A5CCD28D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05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209DC-5886-461B-A772-708AB60E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574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FB59E-7F30-4785-BAF4-4C71133F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93A46-4C9D-401F-A878-362F363A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52675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3D062-57D2-4FB8-B2C7-5929E13E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1937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8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pre-check og risiko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63171A-9024-4E1A-8593-13677F53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5EC"/>
          </a:solidFill>
          <a:ln xmlns:a="http://schemas.openxmlformats.org/drawingml/2006/main" w="9525">
            <a:solidFill>
              <a:srgbClr val="E4F5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E1AAC-FE9F-4AA0-9101-286ADC11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291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18A6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18A63"/>
                </a:solidFill>
                <a:latin typeface="Montserrat"/>
                <a:ea typeface="Montserrat"/>
                <a:cs typeface="Montserrat"/>
              </a:rPr>
              <a:t>Klar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2C3153-A670-4D73-8EF8-D266F413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6"/>
          </a:solidFill>
          <a:ln xmlns:a="http://schemas.openxmlformats.org/drawingml/2006/main" w="9525">
            <a:solidFill>
              <a:srgbClr val="FFF0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9DEC1-2622-4C47-9285-C5E96727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291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07A16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C07A16"/>
                </a:solidFill>
                <a:latin typeface="Montserrat"/>
                <a:ea typeface="Montserrat"/>
                <a:cs typeface="Montserrat"/>
              </a:rPr>
              <a:t>Må sjekkes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872233-4A82-4EF9-A83D-7E695506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E6"/>
          </a:solidFill>
          <a:ln xmlns:a="http://schemas.openxmlformats.org/drawingml/2006/main" w="9525">
            <a:solidFill>
              <a:srgbClr val="FCE7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73FF71-2A64-4383-AE9F-268F27BE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291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4A48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B94A48"/>
                </a:solidFill>
                <a:latin typeface="Montserrat"/>
                <a:ea typeface="Montserrat"/>
                <a:cs typeface="Montserrat"/>
              </a:rPr>
              <a:t>Ikke klar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FA80F-A62F-40FE-AB8D-5977BCBE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19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111C2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54DE5B-4094-49B3-B628-23C45F88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965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Agenten forbereder og kontrollerer - lønnsansvarlig godkjenner.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80A765-408D-477A-A4CD-D654428A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266CF5-AA43-41FC-92E0-38F378A8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Lønnskjøringsagenten er en kontrollassistent, ikke en autonom lønnsansvarlig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EAD979-3F50-4DE6-AC08-2F7F1C7B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3df7bf7874bfc">
            <a:extLst>
              <a:ext uri="{96DAC541-7B7A-43D3-8B79-37D633B846F1}">
                <asvg:svgBlip xmlns:asvg="http://schemas.microsoft.com/office/drawing/2016/SVG/main" r:embed="R8cee865dfdc942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81700" y="23622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8f675b4ea4d71">
            <a:extLst>
              <a:ext uri="{96DAC541-7B7A-43D3-8B79-37D633B846F1}">
                <asvg:svgBlip xmlns:asvg="http://schemas.microsoft.com/office/drawing/2016/SVG/main" r:embed="R5c0b8f36d1b54b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43950" y="23622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d8bb1c614471f">
            <a:extLst>
              <a:ext uri="{96DAC541-7B7A-43D3-8B79-37D633B846F1}">
                <asvg:svgBlip xmlns:asvg="http://schemas.microsoft.com/office/drawing/2016/SVG/main" r:embed="R51d94aa841b046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38900" y="42481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aeeae383344d6">
            <a:extLst>
              <a:ext uri="{96DAC541-7B7A-43D3-8B79-37D633B846F1}">
                <asvg:svgBlip xmlns:asvg="http://schemas.microsoft.com/office/drawing/2016/SVG/main" r:embed="R3f259cc3b73d40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53400" y="42481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938fd21d14093">
            <a:extLst>
              <a:ext uri="{96DAC541-7B7A-43D3-8B79-37D633B846F1}">
                <asvg:svgBlip xmlns:asvg="http://schemas.microsoft.com/office/drawing/2016/SVG/main" r:embed="Ra267031a943649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67900" y="42481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457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84242A-522E-4AFD-B3D3-5E85399C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715E7155-307D-4884-AC9B-91D5D8B0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E1DC1DFC-1388-409C-999B-C4F2A9AF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G R U N N M U 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BB4C4-FA4C-4728-B612-E53E33D2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Sikkerhet bygges inn fra start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58C9D-9671-4181-8E89-9527AFC1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9550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87D4B-61A7-4B4E-9B36-0FBB8471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81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Fase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5687F-E397-40F4-A5D1-905BA7C4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1DA90-EBDA-48A7-8F95-9480C0D7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Fase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E6C34-3E0B-4D88-990B-A6C3119E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D9A51-3D81-4DCF-A32A-F2925C7B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Fase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99CDC-3F57-48D4-9280-9AD0E948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111C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0DB43-1817-42D8-A9E6-E71B923C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624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Sikkerhet, GDPR, logging og menneskelig godkjenning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4576D-A683-4D77-92F1-FA656C67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672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4E2"/>
                </a:solidFill>
                <a:latin typeface="Roboto"/>
                <a:ea typeface="Roboto"/>
                <a:cs typeface="Roboto"/>
              </a:defRPr>
            </a:pPr>
            <a:r>
              <a:rPr sz="900" b="0">
                <a:solidFill>
                  <a:srgbClr val="C8D4E2"/>
                </a:solidFill>
                <a:latin typeface="Roboto"/>
                <a:ea typeface="Roboto"/>
                <a:cs typeface="Roboto"/>
              </a:rPr>
              <a:t>grunnmur for alle agent-workflows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71D5B-9743-4BE4-BEDD-3D6E719D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81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8C798-62F6-473F-A982-EC36CB88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054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EU/EØS-behandling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F0FEC-17AD-422E-A5A5-75EFC6BF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81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5D02F-55F6-4C5D-8322-AECE0322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054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Minste nødvendige tilgang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B06EE-91AC-4502-94C8-8C29B627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81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045ED-97B2-47BB-BF66-883A68F3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054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Read-only først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B7BFF-F131-4505-AE3C-9F9BF720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43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2FC50-F157-4E91-A433-E1B7EA38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4673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Logging av alle forslag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F7BB88-DEEE-46D1-B9A6-C3038475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543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67BE9-117E-4D6C-AA11-3E0F5F28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4673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Menneskelig godkjenning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D7E15-8B19-4FC2-A7A0-2FC54F26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43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88CD7B-5BD6-4B3A-A96E-21C5F98E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673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088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Ingen trening på kundedata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FE29C8-2028-43B5-BDF7-EBDA8BD4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7611C6-6071-4099-A2E2-6285FC5D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Sikkerhetsdesignet må ta høyde for lønn, personopplysninger og selskapsinformasjon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38C1D2-14F4-402C-B8E1-5A7E4BE5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08a4b2c7c4d8d">
            <a:extLst>
              <a:ext uri="{96DAC541-7B7A-43D3-8B79-37D633B846F1}">
                <asvg:svgBlip xmlns:asvg="http://schemas.microsoft.com/office/drawing/2016/SVG/main" r:embed="R6a3dd3064d0744c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19200" y="3924300"/>
            <a:ext cx="4191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1750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188FFC-125F-4F12-A656-9D0AD52F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D41536E5-C162-4D84-84E1-27344D75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B7ABB8BB-46F8-4914-93FC-4BF211A6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N E S T E   B E S L U T N I N G E 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8932B-60B5-476B-9B74-59837276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Hva vi bør avklare i møtet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96009-955C-4540-BCFD-091F9855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A6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00A6A6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36C8B-7C19-466D-A388-BFFEF8EB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95475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17233A"/>
                </a:solidFill>
                <a:latin typeface="Roboto"/>
                <a:ea typeface="Roboto"/>
                <a:cs typeface="Roboto"/>
              </a:rPr>
              <a:t>Hvilken e-postboks starter vi med?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F4545-DAA5-41F4-A2E7-4AE2CF80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431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2F63A-CF1E-447A-BFA8-FE07C9FC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764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A6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00A6A6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3E6DC-A70B-4270-A321-C2B5259E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95475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17233A"/>
                </a:solidFill>
                <a:latin typeface="Roboto"/>
                <a:ea typeface="Roboto"/>
                <a:cs typeface="Roboto"/>
              </a:rPr>
              <a:t>Hvilke SharePoint-mapper brukes?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6B85F-ABD8-48CB-82CF-1E24A6D7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3431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16196-33EC-4A95-AFDB-8D14153E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A6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00A6A6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6F292-BDAC-4DC0-9310-F8245E31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33675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17233A"/>
                </a:solidFill>
                <a:latin typeface="Roboto"/>
                <a:ea typeface="Roboto"/>
                <a:cs typeface="Roboto"/>
              </a:rPr>
              <a:t>Hvilke pilotkunder velges?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3EEEC-0C35-4679-A1A0-5EEA3858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813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D8B6A-E80E-4921-9B02-900371AF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146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A6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00A6A6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187AE-B564-4130-8A1B-AEE170F0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733675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17233A"/>
                </a:solidFill>
                <a:latin typeface="Roboto"/>
                <a:ea typeface="Roboto"/>
                <a:cs typeface="Roboto"/>
              </a:rPr>
              <a:t>Hvilke avstemminger skal agenten hjelpe med først?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336A9-7F11-4434-B8E8-C8B717D1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1813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09543-DAA7-4697-9BE6-CF918B2B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528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A6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00A6A6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54B28-EABA-4D82-86C1-BDC23645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71875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17233A"/>
                </a:solidFill>
                <a:latin typeface="Roboto"/>
                <a:ea typeface="Roboto"/>
                <a:cs typeface="Roboto"/>
              </a:rPr>
              <a:t>Hvem godkjenner forslagene?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C7E27-E216-4DB6-9FDB-B19E1963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195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C88C4-0967-40E4-BAB6-347DF452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5528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A6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00A6A6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0064B-BDB0-4260-AFFB-5876DB05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571875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350" b="1">
                <a:solidFill>
                  <a:srgbClr val="17233A"/>
                </a:solidFill>
                <a:latin typeface="Roboto"/>
                <a:ea typeface="Roboto"/>
                <a:cs typeface="Roboto"/>
              </a:rPr>
              <a:t>Når starter API-klargjøring?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8DFC1-8E5C-437B-8BD0-D3BDC8A9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0195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B6E40E-59B6-478E-8056-758E1ECB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0439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F5"/>
          </a:solidFill>
          <a:ln xmlns:a="http://schemas.openxmlformats.org/drawingml/2006/main" w="9525">
            <a:solidFill>
              <a:srgbClr val="DDF7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34AF63-E9D9-4056-B627-762375B1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00675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275" b="1">
                <a:solidFill>
                  <a:srgbClr val="17233A"/>
                </a:solidFill>
                <a:latin typeface="Roboto"/>
                <a:ea typeface="Roboto"/>
                <a:cs typeface="Roboto"/>
              </a:rPr>
              <a:t>Første mål: fungerende e-post- og avstemmingsagent med trygg vei videre til full automatisering.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EAF9CE-1619-431C-8737-0F79DC6B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24814-BE53-4C87-B1AC-C148686D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Møtet bør ende i konkret pilotscope og eier for API-klargjøring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677E20-25CD-44A5-90F4-2EAFBEFB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849473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A01CBC-2BF2-42C7-8671-FEF418EB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2EA90972-40C1-4F62-B82C-AA2F59A7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5FFEAE02-3CE5-4634-9ED9-38711A06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A P P E N D I 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FDA27-8C29-4D9C-92C6-934D38EA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Teknisk sjekkliste per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987FA-A35A-4C73-AC09-9B788C5C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3219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111C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F0E10-A424-45FA-AEDC-AB5AAB17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Outlook / SharePoint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0D0B1-C828-4282-8552-A9AD4430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973D7-F4A5-4056-816B-CA79A619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Microsoft 365-admin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ECC96-0875-4A68-A23E-9989B1D1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1EE57-B352-4838-A5E2-8E44354B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app registration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D99AD-726C-43FA-853F-A10281D8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18590-5874-49C0-9DE0-52C17327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valgte postbokser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ED7D5-0A73-46CB-90A2-AAC4421D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D7DA0-C4D2-453D-90A2-49976A86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valgte SharePoint-mapper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5FF83-64C7-4F9A-A5A3-9EDDF221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3219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44E08-4790-4CE6-9111-246DC051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Tripletex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1BB8B-8A7D-46B5-829C-3511072D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05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2BD3E-D98A-4E1E-BD24-1A4BD41C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API aktivert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24FDD-95D1-475F-ABE0-48BBE982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43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DCC9D-E5B0-4E69-B75B-0DD56119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67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employee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A1B47-7760-4553-B58E-083C51D6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81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759D3-6F71-43F1-BDDA-02F90818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rettigheter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AA03F-3AE2-41FA-9D59-770E206E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19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6C70F7-E3A3-467A-9BE2-2538F0FB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43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pilotklienter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6A7617-4C26-41B9-A931-35A295FA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32194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755CF5-3124-465B-9873-9BD48346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724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PowerOffice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188CE-B9BA-4D27-9F84-0F4BAB90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05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CBB743-5A17-40CF-9E51-EEAB3BED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integrasjon aktivert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840DF7-4D5E-477C-B46C-C4A2D7D3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F795FF-1779-4EC7-88D9-99EB8F51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67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client key per klient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3BB709-93FD-4E7A-8157-4986E18D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1CBF7C-A2A0-4FF4-BC38-85A0F94C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rettigheter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0CD0BA-EA8C-4004-A827-4AECC8C0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19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AEECB5-5819-4A3F-9765-24216F62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43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pilotklienter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63E42F-1F34-461D-9D89-7A6A2415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79B85B-67CA-4BDD-990E-CF458959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Appendix | Teknisk readiness før og under pilot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555C2A-37A9-4A18-A936-32DA5206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55819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7231AB-42F3-4F6A-8C51-7E95A25E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3F0B194B-346E-4483-A4F4-B91CAEDC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9C3C3B76-AE74-4058-A11B-F038E21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67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A P P E N D I 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0FE08-F3DD-46CD-B89A-9091E63E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Roller og ansvar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3087C-D63D-490A-B872-C7E2D5C9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0639C-E0A7-4E17-B755-4C3E9F8E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47625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111C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E4B28-B21B-4F63-BC99-2940ADD4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19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3A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17233A"/>
                </a:solidFill>
                <a:latin typeface="Montserrat"/>
                <a:ea typeface="Montserrat"/>
                <a:cs typeface="Montserrat"/>
              </a:rPr>
              <a:t>Kunden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DE46E-8D7D-4D7F-B989-A1001525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81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0AF9C-6D2B-4AC0-89E5-2DCFA977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velger pilotkunder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E85C7-F37A-4451-A437-678C544A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19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93FE6-E38F-46AD-B8FA-51C1E247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43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gir tilgang til postbokser/mapper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EAF79-437C-485F-ABC4-B1097464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57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1F4C5-A008-444E-9EDF-49E046E2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aktiverer API/integrasjoner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1EF3B-0DC3-4805-9ACF-1B0D2269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95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9227A-FBA8-4F7C-B97E-70B9BE87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19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33A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17233A"/>
                </a:solidFill>
                <a:latin typeface="Roboto"/>
                <a:ea typeface="Roboto"/>
                <a:cs typeface="Roboto"/>
              </a:rPr>
              <a:t>godkjenner forslag og sikkerhet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6B8CC-5D73-4CBF-9A92-D8969F4E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Leverandør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62EB5-4B0F-4C8A-B610-3B47F1CE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81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FB68D-CED7-4EE1-9FDA-69D70128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051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bygger agentene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96EE0-4A18-4502-BAF7-C90938F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19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A1023-041F-4436-89C3-FDE7FFA5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43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setter opp integrasjoner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DAD3E1-6879-49CC-B78D-CD22386D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57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12AFE-2584-44F9-AF1C-F7011468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81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lager 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547CD-E567-4517-AE97-8E8523FB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95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023D0A-E4A7-40EE-A466-2CF625B3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19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125" b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sikrer logging, tilgang og godkjenning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5B5080-1A87-46B1-95B9-38DDF0F8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6F4255-FD18-41C1-9575-3A078421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81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9677B"/>
                </a:solidFill>
                <a:latin typeface="Roboto"/>
                <a:ea typeface="Roboto"/>
                <a:cs typeface="Roboto"/>
              </a:defRPr>
            </a:pPr>
            <a:r>
              <a:rPr sz="563" b="0">
                <a:solidFill>
                  <a:srgbClr val="59677B"/>
                </a:solidFill>
                <a:latin typeface="Roboto"/>
                <a:ea typeface="Roboto"/>
                <a:cs typeface="Roboto"/>
              </a:rPr>
              <a:t>Appendix | Klare roller gir raskere oppstart og enklere sikkerhetsgjennomgang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2AB985-930C-492E-9C02-F28B032C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59677B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55f956bfb4414">
            <a:extLst>
              <a:ext uri="{96DAC541-7B7A-43D3-8B79-37D633B846F1}">
                <asvg:svgBlip xmlns:asvg="http://schemas.microsoft.com/office/drawing/2016/SVG/main" r:embed="Ra43241a166be4a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2381250"/>
            <a:ext cx="361950" cy="36195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e94d958e847d6">
            <a:extLst>
              <a:ext uri="{96DAC541-7B7A-43D3-8B79-37D633B846F1}">
                <asvg:svgBlip xmlns:asvg="http://schemas.microsoft.com/office/drawing/2016/SVG/main" r:embed="R64482ca334504c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00850" y="2381250"/>
            <a:ext cx="361950" cy="36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62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2026-05-19T13:08:55.2910000Z</dcterms:created>
  <dcterms:modified xsi:type="dcterms:W3CDTF">2026-05-19T13:08:55.2910000Z</dcterms:modified>
</coreProperties>
</file>