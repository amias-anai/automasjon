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5247fcad2488a" /><Relationship Type="http://schemas.openxmlformats.org/officeDocument/2006/relationships/extended-properties" Target="/docProps/app.xml" Id="R1396298b33b94b73" /><Relationship Type="http://schemas.openxmlformats.org/officeDocument/2006/relationships/officeDocument" Target="/ppt/presentation.xml" Id="Raf871293d8a5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d2928f81664683"/>
  </p:sldMasterIdLst>
  <p:notesMasterIdLst>
    <p:notesMasterId xmlns:r="http://schemas.openxmlformats.org/officeDocument/2006/relationships" r:id="Rc10b057a6e404e16"/>
  </p:notesMasterIdLst>
  <p:sldIdLst>
    <p:sldId xmlns:r="http://schemas.openxmlformats.org/officeDocument/2006/relationships" id="256" r:id="Rd27aa5de1f584337"/>
    <p:sldId xmlns:r="http://schemas.openxmlformats.org/officeDocument/2006/relationships" id="257" r:id="R65873db5182441b8"/>
    <p:sldId xmlns:r="http://schemas.openxmlformats.org/officeDocument/2006/relationships" id="258" r:id="Ra6e42cb26e5d48f1"/>
    <p:sldId xmlns:r="http://schemas.openxmlformats.org/officeDocument/2006/relationships" id="259" r:id="R0705bbd0d32841c0"/>
    <p:sldId xmlns:r="http://schemas.openxmlformats.org/officeDocument/2006/relationships" id="260" r:id="R9b8ac75f898144d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2928f81664683" /><Relationship Type="http://schemas.openxmlformats.org/officeDocument/2006/relationships/theme" Target="/ppt/theme/theme1.xml" Id="Rb4eb406f1ed04320" /><Relationship Type="http://schemas.openxmlformats.org/officeDocument/2006/relationships/notesMaster" Target="/ppt/notesMasters/notesMaster1.xml" Id="Rc10b057a6e404e16" /><Relationship Type="http://schemas.openxmlformats.org/officeDocument/2006/relationships/presProps" Target="/ppt/presProps.xml" Id="Rb000083b40d149bd" /><Relationship Type="http://schemas.openxmlformats.org/officeDocument/2006/relationships/viewProps" Target="/ppt/viewProps.xml" Id="R3c8a627731714faf" /><Relationship Type="http://schemas.openxmlformats.org/officeDocument/2006/relationships/tableStyles" Target="/ppt/tableStyles.xml" Id="R225c3a2058ee422b" /><Relationship Type="http://schemas.openxmlformats.org/officeDocument/2006/relationships/slide" Target="/ppt/slides/slide1.xml" Id="Rd27aa5de1f584337" /><Relationship Type="http://schemas.openxmlformats.org/officeDocument/2006/relationships/slide" Target="/ppt/slides/slide2.xml" Id="R65873db5182441b8" /><Relationship Type="http://schemas.openxmlformats.org/officeDocument/2006/relationships/slide" Target="/ppt/slides/slide3.xml" Id="Ra6e42cb26e5d48f1" /><Relationship Type="http://schemas.openxmlformats.org/officeDocument/2006/relationships/slide" Target="/ppt/slides/slide4.xml" Id="R0705bbd0d32841c0" /><Relationship Type="http://schemas.openxmlformats.org/officeDocument/2006/relationships/slide" Target="/ppt/slides/slide5.xml" Id="R9b8ac75f898144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e61fe83171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8324ac772b445c" /><Relationship Type="http://schemas.openxmlformats.org/officeDocument/2006/relationships/notesMaster" Target="/ppt/notesMasters/notesMaster1.xml" Id="R280a85628ea748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a1cf1429c442d" /><Relationship Type="http://schemas.openxmlformats.org/officeDocument/2006/relationships/notesMaster" Target="/ppt/notesMasters/notesMaster1.xml" Id="R7bcba0ec877847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689801206d4e03" /><Relationship Type="http://schemas.openxmlformats.org/officeDocument/2006/relationships/notesMaster" Target="/ppt/notesMasters/notesMaster1.xml" Id="Rcb86026ccc054c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50433f928d41c2" /><Relationship Type="http://schemas.openxmlformats.org/officeDocument/2006/relationships/notesMaster" Target="/ppt/notesMasters/notesMaster1.xml" Id="R54f1f1db78544a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01a792d8a74bcd" /><Relationship Type="http://schemas.openxmlformats.org/officeDocument/2006/relationships/notesMaster" Target="/ppt/notesMasters/notesMaster1.xml" Id="R85363caccd1248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aaeaec3fa4e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2a901e7d644580" /><Relationship Type="http://schemas.openxmlformats.org/officeDocument/2006/relationships/slideLayout" Target="/ppt/slideLayouts/slideLayout2.xml" Id="Rf3a02125e00949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02125e00949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7ffa2428a04da9" /><Relationship Type="http://schemas.openxmlformats.org/officeDocument/2006/relationships/notesSlide" Target="/ppt/notesSlides/notesSlide1.xml" Id="R0ba95efa1764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7ec8e4c8424e34" /><Relationship Type="http://schemas.openxmlformats.org/officeDocument/2006/relationships/notesSlide" Target="/ppt/notesSlides/notesSlide2.xml" Id="R18e1f084139940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8920e376e455f" /><Relationship Type="http://schemas.openxmlformats.org/officeDocument/2006/relationships/notesSlide" Target="/ppt/notesSlides/notesSlide3.xml" Id="R9394cb436ada4a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89f6ac27ec4015" /><Relationship Type="http://schemas.openxmlformats.org/officeDocument/2006/relationships/notesSlide" Target="/ppt/notesSlides/notesSlide4.xml" Id="R175d1790f76d45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b646379a9d4acd" /><Relationship Type="http://schemas.openxmlformats.org/officeDocument/2006/relationships/notesSlide" Target="/ppt/notesSlides/notesSlide5.xml" Id="R91a80d938acc4f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5E7D34F3-C764-4452-9321-F35FBB1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>
            <a:solidFill>
              <a:srgbClr val="F6F2EA"/>
            </a:solidFill>
            <a:prstDash val="solid"/>
          </a:ln>
        </p:spPr>
      </p:sp>
      <p:sp>
        <p:nvSpPr>
          <p:cNvPr id="2" name="left-binding">
            <a:extLst xmlns:a="http://schemas.openxmlformats.org/drawingml/2006/main">
              <a:ext uri="{FF2B5EF4-FFF2-40B4-BE49-F238E27FC236}">
                <a16:creationId xmlns:a16="http://schemas.microsoft.com/office/drawing/2014/main" id="{12F71A67-BD03-439D-A072-1DA823BB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7F80134-EF4B-47C2-A700-5F8E225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" name="cover-field">
            <a:extLst xmlns:a="http://schemas.openxmlformats.org/drawingml/2006/main">
              <a:ext uri="{FF2B5EF4-FFF2-40B4-BE49-F238E27FC236}">
                <a16:creationId xmlns:a16="http://schemas.microsoft.com/office/drawing/2014/main" id="{5894D0CC-9223-4440-95C0-24FD218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71628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2F"/>
          </a:solidFill>
          <a:ln xmlns:a="http://schemas.openxmlformats.org/drawingml/2006/main">
            <a:solidFill>
              <a:srgbClr val="1B2A2F"/>
            </a:solidFill>
            <a:prstDash val="solid"/>
          </a:ln>
        </p:spPr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E4914C84-843A-48D4-88A3-B488BCE9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3048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16182B15-274F-43AE-8AD8-D45C0CF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619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E7F5C"/>
                </a:solidFill>
              </a:defRPr>
            </a:pPr>
            <a:r>
              <a:rPr sz="1275" b="1" i="0">
                <a:solidFill>
                  <a:srgbClr val="6E7F5C"/>
                </a:solidFill>
              </a:rPr>
              <a:t>ACCOUNTING AGENT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F613787-4E7E-4DDF-A8CD-E3873C66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8953500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850" b="1" i="0">
                <a:solidFill>
                  <a:srgbClr val="1B2A2F"/>
                </a:solidFill>
              </a:defRPr>
            </a:pPr>
            <a:r>
              <a:rPr sz="5850" b="1" i="0">
                <a:solidFill>
                  <a:srgbClr val="1B2A2F"/>
                </a:solidFill>
              </a:rPr>
              <a:t>One agent.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850" b="1" i="0">
                <a:solidFill>
                  <a:srgbClr val="1B2A2F"/>
                </a:solidFill>
              </a:defRPr>
            </a:pPr>
            <a:r>
              <a:rPr sz="5850" b="1" i="0">
                <a:solidFill>
                  <a:srgbClr val="1B2A2F"/>
                </a:solidFill>
              </a:rPr>
              <a:t>Many surfaces.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850" b="1" i="0">
                <a:solidFill>
                  <a:srgbClr val="1B2A2F"/>
                </a:solidFill>
              </a:defRPr>
            </a:pPr>
            <a:r>
              <a:rPr sz="5850" b="1" i="0">
                <a:solidFill>
                  <a:srgbClr val="1B2A2F"/>
                </a:solidFill>
              </a:rPr>
              <a:t>Human control.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2D2E27A9-EB5E-45DD-B8C4-0610C7CD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809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 i="0">
                <a:solidFill>
                  <a:srgbClr val="637074"/>
                </a:solidFill>
              </a:defRPr>
            </a:pPr>
            <a:r>
              <a:rPr sz="2100" b="0" i="0">
                <a:solidFill>
                  <a:srgbClr val="637074"/>
                </a:solidFill>
              </a:rPr>
              <a:t>A practical operating model for a Norwegian accounting firm: daily follow-up, chat access, system checks, EØS-first processing, and approval before anything is sent or registered.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3639D6A5-8DC1-4C61-9027-0DE2B42C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5725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B2A2F"/>
                </a:solidFill>
              </a:defRPr>
            </a:pPr>
            <a:r>
              <a:rPr sz="1500" b="1" i="0">
                <a:solidFill>
                  <a:srgbClr val="1B2A2F"/>
                </a:solidFill>
              </a:rPr>
              <a:t>Tomorrow's sales call</a:t>
            </a:r>
          </a:p>
        </p:txBody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A21D3DF0-D10E-48DA-872F-D2275F0F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877300"/>
            <a:ext cx="723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37074"/>
                </a:solidFill>
              </a:defRPr>
            </a:pPr>
            <a:r>
              <a:rPr sz="1350" b="0" i="0">
                <a:solidFill>
                  <a:srgbClr val="637074"/>
                </a:solidFill>
              </a:rPr>
              <a:t>Decision to unlock: pilot scope, privacy boundary, and approval workflow.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9B6CF714-7CBC-4E45-B7DD-5BBF18B1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181100"/>
            <a:ext cx="38481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6150" b="1" i="0">
                <a:solidFill>
                  <a:srgbClr val="FFFFFF"/>
                </a:solidFill>
              </a:defRPr>
            </a:pPr>
            <a:r>
              <a:rPr sz="6150" b="1" i="0">
                <a:solidFill>
                  <a:srgbClr val="FFFFFF"/>
                </a:solidFill>
              </a:rPr>
              <a:t>EØS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6150" b="1" i="0">
                <a:solidFill>
                  <a:srgbClr val="FFFFFF"/>
                </a:solidFill>
              </a:defRPr>
            </a:pPr>
            <a:r>
              <a:rPr sz="6150" b="1" i="0">
                <a:solidFill>
                  <a:srgbClr val="FFFFFF"/>
                </a:solidFill>
              </a:rPr>
              <a:t>FIRST</a:t>
            </a:r>
          </a:p>
        </p:txBody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5F6DEF52-DAB4-4404-8A79-18EB05D4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009900"/>
            <a:ext cx="3848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CFE1D7"/>
                </a:solidFill>
              </a:defRPr>
            </a:pPr>
            <a:r>
              <a:rPr sz="1800" b="0" i="0">
                <a:solidFill>
                  <a:srgbClr val="CFE1D7"/>
                </a:solidFill>
              </a:rPr>
              <a:t>Raw client/accounting data stays in controlled EØS routes by default.</a:t>
            </a:r>
          </a:p>
        </p:txBody>
      </p:sp>
      <p:sp>
        <p:nvSpPr>
          <p:cNvPr id="13" name="cover-Email digest">
            <a:extLst xmlns:a="http://schemas.openxmlformats.org/drawingml/2006/main">
              <a:ext uri="{FF2B5EF4-FFF2-40B4-BE49-F238E27FC236}">
                <a16:creationId xmlns:a16="http://schemas.microsoft.com/office/drawing/2014/main" id="{6AD2F84F-2AE7-49FF-AE53-191A0628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648200"/>
            <a:ext cx="1676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D7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B9E64A98-9BB2-402B-9A4F-2500BA5B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76250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B2A2F"/>
                </a:solidFill>
              </a:defRPr>
            </a:pPr>
            <a:r>
              <a:rPr sz="1350" b="1" i="0">
                <a:solidFill>
                  <a:srgbClr val="1B2A2F"/>
                </a:solidFill>
              </a:rPr>
              <a:t>Email digest</a:t>
            </a:r>
          </a:p>
        </p:txBody>
      </p:sp>
      <p:sp>
        <p:nvSpPr>
          <p:cNvPr id="15" name="cover-Slack / Teams">
            <a:extLst xmlns:a="http://schemas.openxmlformats.org/drawingml/2006/main">
              <a:ext uri="{FF2B5EF4-FFF2-40B4-BE49-F238E27FC236}">
                <a16:creationId xmlns:a16="http://schemas.microsoft.com/office/drawing/2014/main" id="{9DE35FE6-2ED1-4F84-8D6B-6CFADCD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648200"/>
            <a:ext cx="1752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7E6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B1C4F90F-FE48-4B5B-B48F-214809BA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476250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B2A2F"/>
                </a:solidFill>
              </a:defRPr>
            </a:pPr>
            <a:r>
              <a:rPr sz="1350" b="1" i="0">
                <a:solidFill>
                  <a:srgbClr val="1B2A2F"/>
                </a:solidFill>
              </a:rPr>
              <a:t>Slack / Teams</a:t>
            </a:r>
          </a:p>
        </p:txBody>
      </p:sp>
      <p:sp>
        <p:nvSpPr>
          <p:cNvPr id="17" name="cover-Dashboard">
            <a:extLst xmlns:a="http://schemas.openxmlformats.org/drawingml/2006/main">
              <a:ext uri="{FF2B5EF4-FFF2-40B4-BE49-F238E27FC236}">
                <a16:creationId xmlns:a16="http://schemas.microsoft.com/office/drawing/2014/main" id="{3FC055C2-99F0-4486-A2D1-8B5D810F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486400"/>
            <a:ext cx="17526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6A5A997F-76A6-4679-B77B-BA9C071B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60070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B2A2F"/>
                </a:solidFill>
              </a:defRPr>
            </a:pPr>
            <a:r>
              <a:rPr sz="1350" b="1" i="0">
                <a:solidFill>
                  <a:srgbClr val="1B2A2F"/>
                </a:solidFill>
              </a:rPr>
              <a:t>Dashboard</a:t>
            </a:r>
          </a:p>
        </p:txBody>
      </p:sp>
      <p:sp>
        <p:nvSpPr>
          <p:cNvPr id="19" name="cover-Tripletex / Fiken">
            <a:extLst xmlns:a="http://schemas.openxmlformats.org/drawingml/2006/main">
              <a:ext uri="{FF2B5EF4-FFF2-40B4-BE49-F238E27FC236}">
                <a16:creationId xmlns:a16="http://schemas.microsoft.com/office/drawing/2014/main" id="{3CCAC11C-B541-4DF3-BB5C-7C5054B8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324600"/>
            <a:ext cx="228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D7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64444D2E-515F-46AA-9B87-ABD507FA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3890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B2A2F"/>
                </a:solidFill>
              </a:defRPr>
            </a:pPr>
            <a:r>
              <a:rPr sz="1350" b="1" i="0">
                <a:solidFill>
                  <a:srgbClr val="1B2A2F"/>
                </a:solidFill>
              </a:rPr>
              <a:t>Tripletex / Fiken</a:t>
            </a:r>
          </a:p>
        </p:txBody>
      </p:sp>
      <p:sp>
        <p:nvSpPr>
          <p:cNvPr id="21" name="cover-Altinn / Visma">
            <a:extLst xmlns:a="http://schemas.openxmlformats.org/drawingml/2006/main">
              <a:ext uri="{FF2B5EF4-FFF2-40B4-BE49-F238E27FC236}">
                <a16:creationId xmlns:a16="http://schemas.microsoft.com/office/drawing/2014/main" id="{1F065D65-432B-4986-88BE-5B7908B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6324600"/>
            <a:ext cx="2057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7E6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7689501D-08B7-4B02-BAFC-6103A47A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6438900"/>
            <a:ext cx="201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B2A2F"/>
                </a:solidFill>
              </a:defRPr>
            </a:pPr>
            <a:r>
              <a:rPr sz="1350" b="1" i="0">
                <a:solidFill>
                  <a:srgbClr val="1B2A2F"/>
                </a:solidFill>
              </a:rPr>
              <a:t>Altinn / Visma</a:t>
            </a:r>
          </a:p>
        </p:txBody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DA44131C-05A7-40E0-BD75-50BD5EEA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58350"/>
            <a:ext cx="6324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Working recommendation, not legal advice | Validate processor, DPA, transfer basis, and client-specific constraints</a:t>
            </a:r>
          </a:p>
        </p:txBody>
      </p:sp>
      <p:sp>
        <p:nvSpPr>
          <p:cNvPr id="24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905E282C-22B0-4CCC-9707-9AE8C5E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97345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Accounting agent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10785219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2244C3C0-ABE2-43B4-8ED4-1C330579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>
            <a:solidFill>
              <a:srgbClr val="F6F2EA"/>
            </a:solidFill>
            <a:prstDash val="solid"/>
          </a:ln>
        </p:spPr>
      </p:sp>
      <p:sp>
        <p:nvSpPr>
          <p:cNvPr id="2" name="left-binding">
            <a:extLst xmlns:a="http://schemas.openxmlformats.org/drawingml/2006/main">
              <a:ext uri="{FF2B5EF4-FFF2-40B4-BE49-F238E27FC236}">
                <a16:creationId xmlns:a16="http://schemas.microsoft.com/office/drawing/2014/main" id="{57E40651-347B-450E-B09D-53DBABD0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FBE7438-8E8B-4CCD-9F6D-89B4D629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FCD2F0-5ED4-4592-9E77-37EA4836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4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1B2A2F"/>
                </a:solidFill>
              </a:defRPr>
            </a:pPr>
            <a:r>
              <a:rPr sz="4050" b="1" i="0">
                <a:solidFill>
                  <a:srgbClr val="1B2A2F"/>
                </a:solidFill>
              </a:rPr>
              <a:t>One shared agent, several places to reach it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346D7F-FD1F-47D6-B094-DA970BFA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9700"/>
            <a:ext cx="1162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637074"/>
                </a:solidFill>
              </a:defRPr>
            </a:pPr>
            <a:r>
              <a:rPr sz="1800" b="0" i="0">
                <a:solidFill>
                  <a:srgbClr val="637074"/>
                </a:solidFill>
              </a:rPr>
              <a:t>The channel changes; the context, permissions, task state, and audit log stay shared.</a:t>
            </a:r>
          </a:p>
        </p:txBody>
      </p:sp>
      <p:sp>
        <p:nvSpPr>
          <p:cNvPr id="6" name="agent-core">
            <a:extLst xmlns:a="http://schemas.openxmlformats.org/drawingml/2006/main">
              <a:ext uri="{FF2B5EF4-FFF2-40B4-BE49-F238E27FC236}">
                <a16:creationId xmlns:a16="http://schemas.microsoft.com/office/drawing/2014/main" id="{7E476738-F104-4BC1-A5F9-58A4A819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59436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B2A2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5E2EB9D-BC1B-4E10-8DA7-1CBF98BB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953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Shared agent core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F3CDACD7-72B2-4985-807C-18E80D0E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4381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0" i="0">
                <a:solidFill>
                  <a:srgbClr val="D8E5DE"/>
                </a:solidFill>
              </a:defRPr>
            </a:pPr>
            <a:r>
              <a:rPr sz="1950" b="0" i="0">
                <a:solidFill>
                  <a:srgbClr val="D8E5DE"/>
                </a:solidFill>
              </a:rPr>
              <a:t>permissions + client context + task state + audit log + approval policy</a:t>
            </a:r>
          </a:p>
        </p:txBody>
      </p:sp>
      <p:sp>
        <p:nvSpPr>
          <p:cNvPr id="9" name="node-Email">
            <a:extLst xmlns:a="http://schemas.openxmlformats.org/drawingml/2006/main">
              <a:ext uri="{FF2B5EF4-FFF2-40B4-BE49-F238E27FC236}">
                <a16:creationId xmlns:a16="http://schemas.microsoft.com/office/drawing/2014/main" id="{26B22D2F-757A-44A1-BA19-D5C5EE77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D7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A5BAC7F2-654B-4F88-A947-67F617D2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908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B2A2F"/>
                </a:solidFill>
              </a:defRPr>
            </a:pPr>
            <a:r>
              <a:rPr sz="2250" b="1" i="0">
                <a:solidFill>
                  <a:srgbClr val="1B2A2F"/>
                </a:solidFill>
              </a:rPr>
              <a:t>Email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3831E540-26CD-417E-BC60-3523A113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480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37074"/>
                </a:solidFill>
              </a:defRPr>
            </a:pPr>
            <a:r>
              <a:rPr sz="1500" b="0" i="0">
                <a:solidFill>
                  <a:srgbClr val="637074"/>
                </a:solidFill>
              </a:rPr>
              <a:t>daily digest, draft client follow-ups</a:t>
            </a:r>
          </a:p>
        </p:txBody>
      </p:sp>
      <p:sp>
        <p:nvSpPr>
          <p:cNvPr id="12" name="node-Slack / Teams">
            <a:extLst xmlns:a="http://schemas.openxmlformats.org/drawingml/2006/main">
              <a:ext uri="{FF2B5EF4-FFF2-40B4-BE49-F238E27FC236}">
                <a16:creationId xmlns:a16="http://schemas.microsoft.com/office/drawing/2014/main" id="{925BD405-B0EC-4281-9023-FF83AEE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7432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7E6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abel">
            <a:extLst xmlns:a="http://schemas.openxmlformats.org/drawingml/2006/main">
              <a:ext uri="{FF2B5EF4-FFF2-40B4-BE49-F238E27FC236}">
                <a16:creationId xmlns:a16="http://schemas.microsoft.com/office/drawing/2014/main" id="{A4D1E003-85C4-4D35-9190-B620112A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9908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B2A2F"/>
                </a:solidFill>
              </a:defRPr>
            </a:pPr>
            <a:r>
              <a:rPr sz="2250" b="1" i="0">
                <a:solidFill>
                  <a:srgbClr val="1B2A2F"/>
                </a:solidFill>
              </a:rPr>
              <a:t>Slack / Teams</a:t>
            </a:r>
          </a:p>
        </p:txBody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F9EF7FCF-156B-44E0-9A27-4F80DF8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44805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37074"/>
                </a:solidFill>
              </a:defRPr>
            </a:pPr>
            <a:r>
              <a:rPr sz="1500" b="0" i="0">
                <a:solidFill>
                  <a:srgbClr val="637074"/>
                </a:solidFill>
              </a:rPr>
              <a:t>questions, quick approvals, internal coordination</a:t>
            </a:r>
          </a:p>
        </p:txBody>
      </p:sp>
      <p:sp>
        <p:nvSpPr>
          <p:cNvPr id="15" name="node-Dashboard">
            <a:extLst xmlns:a="http://schemas.openxmlformats.org/drawingml/2006/main">
              <a:ext uri="{FF2B5EF4-FFF2-40B4-BE49-F238E27FC236}">
                <a16:creationId xmlns:a16="http://schemas.microsoft.com/office/drawing/2014/main" id="{487DAC70-E17E-4C56-89FF-D4C6BA8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5532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D95041A0-6F87-4410-A58F-1B850F6C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8008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B2A2F"/>
                </a:solidFill>
              </a:defRPr>
            </a:pPr>
            <a:r>
              <a:rPr sz="2250" b="1" i="0">
                <a:solidFill>
                  <a:srgbClr val="1B2A2F"/>
                </a:solidFill>
              </a:rPr>
              <a:t>Dashboard</a:t>
            </a:r>
          </a:p>
        </p:txBody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CF4F41FA-4934-4033-8CE4-AF2BEED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7258050"/>
            <a:ext cx="314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37074"/>
                </a:solidFill>
              </a:defRPr>
            </a:pPr>
            <a:r>
              <a:rPr sz="1500" b="0" i="0">
                <a:solidFill>
                  <a:srgbClr val="637074"/>
                </a:solidFill>
              </a:rPr>
              <a:t>queues, risks, missing docs, audit trail</a:t>
            </a:r>
          </a:p>
        </p:txBody>
      </p:sp>
      <p:sp>
        <p:nvSpPr>
          <p:cNvPr id="18" name="node-Accounting systems">
            <a:extLst xmlns:a="http://schemas.openxmlformats.org/drawingml/2006/main">
              <a:ext uri="{FF2B5EF4-FFF2-40B4-BE49-F238E27FC236}">
                <a16:creationId xmlns:a16="http://schemas.microsoft.com/office/drawing/2014/main" id="{C867B914-1559-4149-933E-7474E5B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5532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FE6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B01148FE-5C1C-4DE2-BC91-4B0A10FB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68008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B2A2F"/>
                </a:solidFill>
              </a:defRPr>
            </a:pPr>
            <a:r>
              <a:rPr sz="2250" b="1" i="0">
                <a:solidFill>
                  <a:srgbClr val="1B2A2F"/>
                </a:solidFill>
              </a:rPr>
              <a:t>Accounting systems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AB0D3024-CF91-4D2C-A0AC-49E1F420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72580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37074"/>
                </a:solidFill>
              </a:defRPr>
            </a:pPr>
            <a:r>
              <a:rPr sz="1500" b="0" i="0">
                <a:solidFill>
                  <a:srgbClr val="637074"/>
                </a:solidFill>
              </a:rPr>
              <a:t>Tripletex, Fiken, Visma data/actions</a:t>
            </a:r>
          </a:p>
        </p:txBody>
      </p:sp>
      <p:sp>
        <p:nvSpPr>
          <p:cNvPr id="21" name="node-Public portals">
            <a:extLst xmlns:a="http://schemas.openxmlformats.org/drawingml/2006/main">
              <a:ext uri="{FF2B5EF4-FFF2-40B4-BE49-F238E27FC236}">
                <a16:creationId xmlns:a16="http://schemas.microsoft.com/office/drawing/2014/main" id="{88EB5C29-7A91-4FE2-B91E-18713BEE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7086600"/>
            <a:ext cx="37338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CB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AB571457-6CE9-4779-AA62-819A77D1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2961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B2A2F"/>
                </a:solidFill>
              </a:defRPr>
            </a:pPr>
            <a:r>
              <a:rPr sz="2250" b="1" i="0">
                <a:solidFill>
                  <a:srgbClr val="1B2A2F"/>
                </a:solidFill>
              </a:rPr>
              <a:t>Public portals</a:t>
            </a:r>
          </a:p>
        </p:txBody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5D12A7A1-98BC-4B0F-9DDC-F197DDCC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7533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37074"/>
                </a:solidFill>
              </a:defRPr>
            </a:pPr>
            <a:r>
              <a:rPr sz="1500" b="0" i="0">
                <a:solidFill>
                  <a:srgbClr val="637074"/>
                </a:solidFill>
              </a:rPr>
              <a:t>Altinn checks and filing status</a:t>
            </a:r>
          </a:p>
        </p:txBody>
      </p:sp>
      <p:sp>
        <p:nvSpPr>
          <p:cNvPr id="24" name="connector-1">
            <a:extLst xmlns:a="http://schemas.openxmlformats.org/drawingml/2006/main">
              <a:ext uri="{FF2B5EF4-FFF2-40B4-BE49-F238E27FC236}">
                <a16:creationId xmlns:a16="http://schemas.microsoft.com/office/drawing/2014/main" id="{BD633A74-1E6A-4949-B4B3-32DC7F73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052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5" name="connector-2">
            <a:extLst xmlns:a="http://schemas.openxmlformats.org/drawingml/2006/main">
              <a:ext uri="{FF2B5EF4-FFF2-40B4-BE49-F238E27FC236}">
                <a16:creationId xmlns:a16="http://schemas.microsoft.com/office/drawing/2014/main" id="{626BFBA5-D7B2-44AF-9D34-5BC2283D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505200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6" name="connector-3">
            <a:extLst xmlns:a="http://schemas.openxmlformats.org/drawingml/2006/main">
              <a:ext uri="{FF2B5EF4-FFF2-40B4-BE49-F238E27FC236}">
                <a16:creationId xmlns:a16="http://schemas.microsoft.com/office/drawing/2014/main" id="{770FE145-8C82-48C1-B049-C7A55BAF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3152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7" name="connector-4">
            <a:extLst xmlns:a="http://schemas.openxmlformats.org/drawingml/2006/main">
              <a:ext uri="{FF2B5EF4-FFF2-40B4-BE49-F238E27FC236}">
                <a16:creationId xmlns:a16="http://schemas.microsoft.com/office/drawing/2014/main" id="{E0AAAE1F-EBEF-46CF-967A-B3C5BF9C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315200"/>
            <a:ext cx="99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8" name="connector-5">
            <a:extLst xmlns:a="http://schemas.openxmlformats.org/drawingml/2006/main">
              <a:ext uri="{FF2B5EF4-FFF2-40B4-BE49-F238E27FC236}">
                <a16:creationId xmlns:a16="http://schemas.microsoft.com/office/drawing/2014/main" id="{A2D6A44A-6C36-4716-B547-A2860F9B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19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9" name="label">
            <a:extLst xmlns:a="http://schemas.openxmlformats.org/drawingml/2006/main">
              <a:ext uri="{FF2B5EF4-FFF2-40B4-BE49-F238E27FC236}">
                <a16:creationId xmlns:a16="http://schemas.microsoft.com/office/drawing/2014/main" id="{004C2A3D-476A-4AD6-A84A-4AF733F1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29650"/>
            <a:ext cx="1362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B2A2F"/>
                </a:solidFill>
              </a:defRPr>
            </a:pPr>
            <a:r>
              <a:rPr sz="1800" b="1" i="0">
                <a:solidFill>
                  <a:srgbClr val="1B2A2F"/>
                </a:solidFill>
              </a:rPr>
              <a:t>Telegram / WhatsApp: use as light notifications only, unless the firm has a governed business setup.</a:t>
            </a:r>
          </a:p>
        </p:txBody>
      </p:sp>
      <p:sp>
        <p:nvSpPr>
          <p:cNvPr id="3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67D9764-13F7-4D18-A36E-7DE5152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58350"/>
            <a:ext cx="4629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Prepared for sales discussion | Sources: Datatilsynet, European Commission, EDPB</a:t>
            </a:r>
          </a:p>
        </p:txBody>
      </p:sp>
      <p:sp>
        <p:nvSpPr>
          <p:cNvPr id="31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A43B7D65-6485-42CB-B52E-76957FB2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97345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Accounting agent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14376651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A2D642D9-156D-4430-A4E3-C3D0E359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>
            <a:solidFill>
              <a:srgbClr val="F6F2EA"/>
            </a:solidFill>
            <a:prstDash val="solid"/>
          </a:ln>
        </p:spPr>
      </p:sp>
      <p:sp>
        <p:nvSpPr>
          <p:cNvPr id="2" name="left-binding">
            <a:extLst xmlns:a="http://schemas.openxmlformats.org/drawingml/2006/main">
              <a:ext uri="{FF2B5EF4-FFF2-40B4-BE49-F238E27FC236}">
                <a16:creationId xmlns:a16="http://schemas.microsoft.com/office/drawing/2014/main" id="{27FE34ED-5F07-4DDD-BB8B-877B00D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4142C39-7A77-4B57-A690-CDCF19F1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E7F56A-B5F0-4D80-A8B0-60196D2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4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1B2A2F"/>
                </a:solidFill>
              </a:defRPr>
            </a:pPr>
            <a:r>
              <a:rPr sz="4050" b="1" i="0">
                <a:solidFill>
                  <a:srgbClr val="1B2A2F"/>
                </a:solidFill>
              </a:rPr>
              <a:t>Task routing: interface, model, privacy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7EB4E1-C29D-4DFF-91DE-17A86517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9700"/>
            <a:ext cx="11620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637074"/>
                </a:solidFill>
              </a:defRPr>
            </a:pPr>
            <a:r>
              <a:rPr sz="1800" b="0" i="0">
                <a:solidFill>
                  <a:srgbClr val="637074"/>
                </a:solidFill>
              </a:rPr>
              <a:t>The point is not one chatbot everywhere. Each task should land in the surface where the accountant naturally acts.</a:t>
            </a:r>
          </a:p>
        </p:txBody>
      </p:sp>
      <p:sp>
        <p:nvSpPr>
          <p:cNvPr id="6" name="table-header-bg">
            <a:extLst xmlns:a="http://schemas.openxmlformats.org/drawingml/2006/main">
              <a:ext uri="{FF2B5EF4-FFF2-40B4-BE49-F238E27FC236}">
                <a16:creationId xmlns:a16="http://schemas.microsoft.com/office/drawing/2014/main" id="{7C378DEE-05AD-46A4-8F61-5B4A997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607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A2F"/>
          </a:solidFill>
          <a:ln xmlns:a="http://schemas.openxmlformats.org/drawingml/2006/main">
            <a:solidFill>
              <a:srgbClr val="1B2A2F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1A57167-F304-4876-B71B-01C7837A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339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BF2E05CF-FFE9-4570-ADB7-87120B0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Best interface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D6458ACC-2C12-4AAF-A6CC-18A1B4F3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050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Model tier</a:t>
            </a:r>
          </a:p>
        </p:txBody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84F400FC-8DC7-45C9-9F85-B063945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305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Data route</a:t>
            </a:r>
          </a:p>
        </p:txBody>
      </p:sp>
      <p:sp>
        <p:nvSpPr>
          <p:cNvPr id="11" name="row-0">
            <a:extLst xmlns:a="http://schemas.openxmlformats.org/drawingml/2006/main">
              <a:ext uri="{FF2B5EF4-FFF2-40B4-BE49-F238E27FC236}">
                <a16:creationId xmlns:a16="http://schemas.microsoft.com/office/drawing/2014/main" id="{4C09C11C-4CD1-4EBE-BF57-CA648BC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>
            <a:solidFill>
              <a:srgbClr val="FBF8F1"/>
            </a:solidFill>
            <a:prstDash val="solid"/>
          </a:ln>
        </p:spPr>
      </p:sp>
      <p:sp>
        <p:nvSpPr>
          <p:cNvPr id="12" name="row-line-0">
            <a:extLst xmlns:a="http://schemas.openxmlformats.org/drawingml/2006/main">
              <a:ext uri="{FF2B5EF4-FFF2-40B4-BE49-F238E27FC236}">
                <a16:creationId xmlns:a16="http://schemas.microsoft.com/office/drawing/2014/main" id="{34F33287-50FF-497E-849E-3B47D51C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13" name="label">
            <a:extLst xmlns:a="http://schemas.openxmlformats.org/drawingml/2006/main">
              <a:ext uri="{FF2B5EF4-FFF2-40B4-BE49-F238E27FC236}">
                <a16:creationId xmlns:a16="http://schemas.microsoft.com/office/drawing/2014/main" id="{55E6BBB5-053F-42AE-99E8-3D8F1D5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Missing documents</a:t>
            </a:r>
          </a:p>
        </p:txBody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4CF36144-738F-45D5-AD3E-01ADC635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384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Dashboard + system check + email digest</a:t>
            </a:r>
          </a:p>
        </p:txBody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599D3FDF-51ED-46BC-AB48-FC1A8D4C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384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Rules + EU fast</a:t>
            </a:r>
          </a:p>
        </p:txBody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F7254439-D04B-4F60-97AF-A36C13C9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8384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 raw data</a:t>
            </a:r>
          </a:p>
        </p:txBody>
      </p:sp>
      <p:sp>
        <p:nvSpPr>
          <p:cNvPr id="17" name="row-1">
            <a:extLst xmlns:a="http://schemas.openxmlformats.org/drawingml/2006/main">
              <a:ext uri="{FF2B5EF4-FFF2-40B4-BE49-F238E27FC236}">
                <a16:creationId xmlns:a16="http://schemas.microsoft.com/office/drawing/2014/main" id="{D2013C46-2F5D-42AF-8B6E-59983861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>
            <a:solidFill>
              <a:srgbClr val="EFE6D8"/>
            </a:solidFill>
            <a:prstDash val="solid"/>
          </a:ln>
        </p:spPr>
      </p:sp>
      <p:sp>
        <p:nvSpPr>
          <p:cNvPr id="18" name="row-line-1">
            <a:extLst xmlns:a="http://schemas.openxmlformats.org/drawingml/2006/main">
              <a:ext uri="{FF2B5EF4-FFF2-40B4-BE49-F238E27FC236}">
                <a16:creationId xmlns:a16="http://schemas.microsoft.com/office/drawing/2014/main" id="{382217FF-B1AF-49E0-8934-B71F3ACA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051F665E-62F5-48A6-A342-F6F97CC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Deadlines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DC2BB026-B3DF-43C3-B671-0B77ABB9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861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Email digest + dashboard + calendar</a:t>
            </a:r>
          </a:p>
        </p:txBody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1E827605-E935-418B-8E3D-6634E629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861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Rules</a:t>
            </a:r>
          </a:p>
        </p:txBody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1059E84E-8A13-4F8B-92C3-A3FA5753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34861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 raw data</a:t>
            </a:r>
          </a:p>
        </p:txBody>
      </p:sp>
      <p:sp>
        <p:nvSpPr>
          <p:cNvPr id="23" name="row-2">
            <a:extLst xmlns:a="http://schemas.openxmlformats.org/drawingml/2006/main">
              <a:ext uri="{FF2B5EF4-FFF2-40B4-BE49-F238E27FC236}">
                <a16:creationId xmlns:a16="http://schemas.microsoft.com/office/drawing/2014/main" id="{D3B9C89E-3DAF-4789-BF1F-22D2521F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>
            <a:solidFill>
              <a:srgbClr val="FBF8F1"/>
            </a:solidFill>
            <a:prstDash val="solid"/>
          </a:ln>
        </p:spPr>
      </p:sp>
      <p:sp>
        <p:nvSpPr>
          <p:cNvPr id="24" name="row-line-2">
            <a:extLst xmlns:a="http://schemas.openxmlformats.org/drawingml/2006/main">
              <a:ext uri="{FF2B5EF4-FFF2-40B4-BE49-F238E27FC236}">
                <a16:creationId xmlns:a16="http://schemas.microsoft.com/office/drawing/2014/main" id="{D57BA09C-3872-44EB-B98F-057BF1CC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5" name="label">
            <a:extLst xmlns:a="http://schemas.openxmlformats.org/drawingml/2006/main">
              <a:ext uri="{FF2B5EF4-FFF2-40B4-BE49-F238E27FC236}">
                <a16:creationId xmlns:a16="http://schemas.microsoft.com/office/drawing/2014/main" id="{B21B72C2-AB16-4AF7-AAEC-3F45C720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Slow clients</a:t>
            </a:r>
          </a:p>
        </p:txBody>
      </p:sp>
      <p:sp>
        <p:nvSpPr>
          <p:cNvPr id="26" name="label">
            <a:extLst xmlns:a="http://schemas.openxmlformats.org/drawingml/2006/main">
              <a:ext uri="{FF2B5EF4-FFF2-40B4-BE49-F238E27FC236}">
                <a16:creationId xmlns:a16="http://schemas.microsoft.com/office/drawing/2014/main" id="{27B1DAB3-CF8D-4E91-801E-4F5DB79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338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Draft email + chat approval</a:t>
            </a:r>
          </a:p>
        </p:txBody>
      </p:sp>
      <p:sp>
        <p:nvSpPr>
          <p:cNvPr id="27" name="label">
            <a:extLst xmlns:a="http://schemas.openxmlformats.org/drawingml/2006/main">
              <a:ext uri="{FF2B5EF4-FFF2-40B4-BE49-F238E27FC236}">
                <a16:creationId xmlns:a16="http://schemas.microsoft.com/office/drawing/2014/main" id="{949F889D-F5E5-4A3D-AE0F-3F9E8FB9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338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EU fast</a:t>
            </a:r>
          </a:p>
        </p:txBody>
      </p:sp>
      <p:sp>
        <p:nvSpPr>
          <p:cNvPr id="28" name="label">
            <a:extLst xmlns:a="http://schemas.openxmlformats.org/drawingml/2006/main">
              <a:ext uri="{FF2B5EF4-FFF2-40B4-BE49-F238E27FC236}">
                <a16:creationId xmlns:a16="http://schemas.microsoft.com/office/drawing/2014/main" id="{EFD3EC3F-6FDB-4125-B47B-348BE4B4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1338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approve before send</a:t>
            </a:r>
          </a:p>
        </p:txBody>
      </p:sp>
      <p:sp>
        <p:nvSpPr>
          <p:cNvPr id="29" name="row-3">
            <a:extLst xmlns:a="http://schemas.openxmlformats.org/drawingml/2006/main">
              <a:ext uri="{FF2B5EF4-FFF2-40B4-BE49-F238E27FC236}">
                <a16:creationId xmlns:a16="http://schemas.microsoft.com/office/drawing/2014/main" id="{4E9A3C85-8F71-44FB-9B82-075EE81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>
            <a:solidFill>
              <a:srgbClr val="EFE6D8"/>
            </a:solidFill>
            <a:prstDash val="solid"/>
          </a:ln>
        </p:spPr>
      </p:sp>
      <p:sp>
        <p:nvSpPr>
          <p:cNvPr id="30" name="row-line-3">
            <a:extLst xmlns:a="http://schemas.openxmlformats.org/drawingml/2006/main">
              <a:ext uri="{FF2B5EF4-FFF2-40B4-BE49-F238E27FC236}">
                <a16:creationId xmlns:a16="http://schemas.microsoft.com/office/drawing/2014/main" id="{236A28A2-1FB6-4D8A-BCFD-1875FFE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31" name="label">
            <a:extLst xmlns:a="http://schemas.openxmlformats.org/drawingml/2006/main">
              <a:ext uri="{FF2B5EF4-FFF2-40B4-BE49-F238E27FC236}">
                <a16:creationId xmlns:a16="http://schemas.microsoft.com/office/drawing/2014/main" id="{EAA84E52-4D7F-44BB-8341-36BFEF27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Repeated questions</a:t>
            </a:r>
          </a:p>
        </p:txBody>
      </p:sp>
      <p:sp>
        <p:nvSpPr>
          <p:cNvPr id="32" name="label">
            <a:extLst xmlns:a="http://schemas.openxmlformats.org/drawingml/2006/main">
              <a:ext uri="{FF2B5EF4-FFF2-40B4-BE49-F238E27FC236}">
                <a16:creationId xmlns:a16="http://schemas.microsoft.com/office/drawing/2014/main" id="{EA7E73B3-76C2-4A32-A410-8EF1DA26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815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Slack/Teams chatbot + knowledge base</a:t>
            </a:r>
          </a:p>
        </p:txBody>
      </p:sp>
      <p:sp>
        <p:nvSpPr>
          <p:cNvPr id="33" name="label">
            <a:extLst xmlns:a="http://schemas.openxmlformats.org/drawingml/2006/main">
              <a:ext uri="{FF2B5EF4-FFF2-40B4-BE49-F238E27FC236}">
                <a16:creationId xmlns:a16="http://schemas.microsoft.com/office/drawing/2014/main" id="{D9E72092-ED9B-4DA5-A9ED-8D9488CF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7815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EU fast/medium</a:t>
            </a:r>
          </a:p>
        </p:txBody>
      </p:sp>
      <p:sp>
        <p:nvSpPr>
          <p:cNvPr id="34" name="label">
            <a:extLst xmlns:a="http://schemas.openxmlformats.org/drawingml/2006/main">
              <a:ext uri="{FF2B5EF4-FFF2-40B4-BE49-F238E27FC236}">
                <a16:creationId xmlns:a16="http://schemas.microsoft.com/office/drawing/2014/main" id="{B38FEB76-51E3-4C74-818D-D18C00C2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7815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cite source</a:t>
            </a:r>
          </a:p>
        </p:txBody>
      </p:sp>
      <p:sp>
        <p:nvSpPr>
          <p:cNvPr id="35" name="row-4">
            <a:extLst xmlns:a="http://schemas.openxmlformats.org/drawingml/2006/main">
              <a:ext uri="{FF2B5EF4-FFF2-40B4-BE49-F238E27FC236}">
                <a16:creationId xmlns:a16="http://schemas.microsoft.com/office/drawing/2014/main" id="{06CDDF0C-56AD-4674-B7F5-61CF5068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>
            <a:solidFill>
              <a:srgbClr val="FBF8F1"/>
            </a:solidFill>
            <a:prstDash val="solid"/>
          </a:ln>
        </p:spPr>
      </p:sp>
      <p:sp>
        <p:nvSpPr>
          <p:cNvPr id="36" name="row-line-4">
            <a:extLst xmlns:a="http://schemas.openxmlformats.org/drawingml/2006/main">
              <a:ext uri="{FF2B5EF4-FFF2-40B4-BE49-F238E27FC236}">
                <a16:creationId xmlns:a16="http://schemas.microsoft.com/office/drawing/2014/main" id="{7378CD31-563A-4541-A9D0-3646B335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37" name="label">
            <a:extLst xmlns:a="http://schemas.openxmlformats.org/drawingml/2006/main">
              <a:ext uri="{FF2B5EF4-FFF2-40B4-BE49-F238E27FC236}">
                <a16:creationId xmlns:a16="http://schemas.microsoft.com/office/drawing/2014/main" id="{1C6768E0-DA3C-469E-9903-2DB21C5C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Status updates</a:t>
            </a:r>
          </a:p>
        </p:txBody>
      </p:sp>
      <p:sp>
        <p:nvSpPr>
          <p:cNvPr id="38" name="label">
            <a:extLst xmlns:a="http://schemas.openxmlformats.org/drawingml/2006/main">
              <a:ext uri="{FF2B5EF4-FFF2-40B4-BE49-F238E27FC236}">
                <a16:creationId xmlns:a16="http://schemas.microsoft.com/office/drawing/2014/main" id="{CB78E9E2-38F9-42E4-9796-E6F5D6B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292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Daily email + dashboard summary</a:t>
            </a:r>
          </a:p>
        </p:txBody>
      </p:sp>
      <p:sp>
        <p:nvSpPr>
          <p:cNvPr id="39" name="label">
            <a:extLst xmlns:a="http://schemas.openxmlformats.org/drawingml/2006/main">
              <a:ext uri="{FF2B5EF4-FFF2-40B4-BE49-F238E27FC236}">
                <a16:creationId xmlns:a16="http://schemas.microsoft.com/office/drawing/2014/main" id="{C00FF096-C4A4-4CBF-A61E-EB17F35B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4292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EU medium/strong</a:t>
            </a:r>
          </a:p>
        </p:txBody>
      </p:sp>
      <p:sp>
        <p:nvSpPr>
          <p:cNvPr id="40" name="label">
            <a:extLst xmlns:a="http://schemas.openxmlformats.org/drawingml/2006/main">
              <a:ext uri="{FF2B5EF4-FFF2-40B4-BE49-F238E27FC236}">
                <a16:creationId xmlns:a16="http://schemas.microsoft.com/office/drawing/2014/main" id="{E6EA7DA4-D004-451F-8104-CD0638D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4292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reviewer tagged</a:t>
            </a:r>
          </a:p>
        </p:txBody>
      </p:sp>
      <p:sp>
        <p:nvSpPr>
          <p:cNvPr id="41" name="row-5">
            <a:extLst xmlns:a="http://schemas.openxmlformats.org/drawingml/2006/main">
              <a:ext uri="{FF2B5EF4-FFF2-40B4-BE49-F238E27FC236}">
                <a16:creationId xmlns:a16="http://schemas.microsoft.com/office/drawing/2014/main" id="{621BA043-2A9F-403D-82C3-E51B36E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436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>
            <a:solidFill>
              <a:srgbClr val="EFE6D8"/>
            </a:solidFill>
            <a:prstDash val="solid"/>
          </a:ln>
        </p:spPr>
      </p:sp>
      <p:sp>
        <p:nvSpPr>
          <p:cNvPr id="42" name="row-line-5">
            <a:extLst xmlns:a="http://schemas.openxmlformats.org/drawingml/2006/main">
              <a:ext uri="{FF2B5EF4-FFF2-40B4-BE49-F238E27FC236}">
                <a16:creationId xmlns:a16="http://schemas.microsoft.com/office/drawing/2014/main" id="{03AD98F8-9324-4367-8124-0F805F5E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532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43" name="label">
            <a:extLst xmlns:a="http://schemas.openxmlformats.org/drawingml/2006/main">
              <a:ext uri="{FF2B5EF4-FFF2-40B4-BE49-F238E27FC236}">
                <a16:creationId xmlns:a16="http://schemas.microsoft.com/office/drawing/2014/main" id="{CC12BC58-F99E-4224-A27D-2DB4444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769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Internal tasks</a:t>
            </a:r>
          </a:p>
        </p:txBody>
      </p:sp>
      <p:sp>
        <p:nvSpPr>
          <p:cNvPr id="44" name="label">
            <a:extLst xmlns:a="http://schemas.openxmlformats.org/drawingml/2006/main">
              <a:ext uri="{FF2B5EF4-FFF2-40B4-BE49-F238E27FC236}">
                <a16:creationId xmlns:a16="http://schemas.microsoft.com/office/drawing/2014/main" id="{7B210A85-27C7-4A80-92F7-A8AC876A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769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Slack/Teams + task system</a:t>
            </a:r>
          </a:p>
        </p:txBody>
      </p:sp>
      <p:sp>
        <p:nvSpPr>
          <p:cNvPr id="45" name="label">
            <a:extLst xmlns:a="http://schemas.openxmlformats.org/drawingml/2006/main">
              <a:ext uri="{FF2B5EF4-FFF2-40B4-BE49-F238E27FC236}">
                <a16:creationId xmlns:a16="http://schemas.microsoft.com/office/drawing/2014/main" id="{791192ED-4ACF-4938-88AF-B50F1DCA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0769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EU medium</a:t>
            </a:r>
          </a:p>
        </p:txBody>
      </p:sp>
      <p:sp>
        <p:nvSpPr>
          <p:cNvPr id="46" name="label">
            <a:extLst xmlns:a="http://schemas.openxmlformats.org/drawingml/2006/main">
              <a:ext uri="{FF2B5EF4-FFF2-40B4-BE49-F238E27FC236}">
                <a16:creationId xmlns:a16="http://schemas.microsoft.com/office/drawing/2014/main" id="{4109C0E5-F719-4598-9751-6119B529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0769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log task change</a:t>
            </a:r>
          </a:p>
        </p:txBody>
      </p:sp>
      <p:sp>
        <p:nvSpPr>
          <p:cNvPr id="47" name="row-6">
            <a:extLst xmlns:a="http://schemas.openxmlformats.org/drawingml/2006/main">
              <a:ext uri="{FF2B5EF4-FFF2-40B4-BE49-F238E27FC236}">
                <a16:creationId xmlns:a16="http://schemas.microsoft.com/office/drawing/2014/main" id="{0AF491E4-AEE3-43A3-80CA-4F316D1B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532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>
            <a:solidFill>
              <a:srgbClr val="FBF8F1"/>
            </a:solidFill>
            <a:prstDash val="solid"/>
          </a:ln>
        </p:spPr>
      </p:sp>
      <p:sp>
        <p:nvSpPr>
          <p:cNvPr id="48" name="row-line-6">
            <a:extLst xmlns:a="http://schemas.openxmlformats.org/drawingml/2006/main">
              <a:ext uri="{FF2B5EF4-FFF2-40B4-BE49-F238E27FC236}">
                <a16:creationId xmlns:a16="http://schemas.microsoft.com/office/drawing/2014/main" id="{C11A77F4-9F99-439B-9DAD-9D725301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628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49" name="label">
            <a:extLst xmlns:a="http://schemas.openxmlformats.org/drawingml/2006/main">
              <a:ext uri="{FF2B5EF4-FFF2-40B4-BE49-F238E27FC236}">
                <a16:creationId xmlns:a16="http://schemas.microsoft.com/office/drawing/2014/main" id="{7C1E9B86-562E-4415-BCEE-1D6C22B5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7246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Check portals/systems</a:t>
            </a:r>
          </a:p>
        </p:txBody>
      </p:sp>
      <p:sp>
        <p:nvSpPr>
          <p:cNvPr id="50" name="label">
            <a:extLst xmlns:a="http://schemas.openxmlformats.org/drawingml/2006/main">
              <a:ext uri="{FF2B5EF4-FFF2-40B4-BE49-F238E27FC236}">
                <a16:creationId xmlns:a16="http://schemas.microsoft.com/office/drawing/2014/main" id="{9D9F0309-CF65-4227-8D7B-B158912F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7246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Altinn/Visma/Tripletex connectors</a:t>
            </a:r>
          </a:p>
        </p:txBody>
      </p:sp>
      <p:sp>
        <p:nvSpPr>
          <p:cNvPr id="51" name="label">
            <a:extLst xmlns:a="http://schemas.openxmlformats.org/drawingml/2006/main">
              <a:ext uri="{FF2B5EF4-FFF2-40B4-BE49-F238E27FC236}">
                <a16:creationId xmlns:a16="http://schemas.microsoft.com/office/drawing/2014/main" id="{6685B039-B784-427B-80DC-BB39D8F6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7246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Rules + EU medium</a:t>
            </a:r>
          </a:p>
        </p:txBody>
      </p:sp>
      <p:sp>
        <p:nvSpPr>
          <p:cNvPr id="52" name="label">
            <a:extLst xmlns:a="http://schemas.openxmlformats.org/drawingml/2006/main">
              <a:ext uri="{FF2B5EF4-FFF2-40B4-BE49-F238E27FC236}">
                <a16:creationId xmlns:a16="http://schemas.microsoft.com/office/drawing/2014/main" id="{37705587-338C-4946-A79E-16CCB761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7246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no auto-submit</a:t>
            </a:r>
          </a:p>
        </p:txBody>
      </p:sp>
      <p:sp>
        <p:nvSpPr>
          <p:cNvPr id="53" name="row-7">
            <a:extLst xmlns:a="http://schemas.openxmlformats.org/drawingml/2006/main">
              <a:ext uri="{FF2B5EF4-FFF2-40B4-BE49-F238E27FC236}">
                <a16:creationId xmlns:a16="http://schemas.microsoft.com/office/drawing/2014/main" id="{F5CA7C92-CF63-45F0-866D-50DA970A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>
            <a:solidFill>
              <a:srgbClr val="EFE6D8"/>
            </a:solidFill>
            <a:prstDash val="solid"/>
          </a:ln>
        </p:spPr>
      </p:sp>
      <p:sp>
        <p:nvSpPr>
          <p:cNvPr id="54" name="row-line-7">
            <a:extLst xmlns:a="http://schemas.openxmlformats.org/drawingml/2006/main">
              <a:ext uri="{FF2B5EF4-FFF2-40B4-BE49-F238E27FC236}">
                <a16:creationId xmlns:a16="http://schemas.microsoft.com/office/drawing/2014/main" id="{041C7780-2FA7-463D-9A8E-2B472EE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486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55" name="label">
            <a:extLst xmlns:a="http://schemas.openxmlformats.org/drawingml/2006/main">
              <a:ext uri="{FF2B5EF4-FFF2-40B4-BE49-F238E27FC236}">
                <a16:creationId xmlns:a16="http://schemas.microsoft.com/office/drawing/2014/main" id="{B473D338-99D8-4D69-88C6-10D302B7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3723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Small messages</a:t>
            </a:r>
          </a:p>
        </p:txBody>
      </p:sp>
      <p:sp>
        <p:nvSpPr>
          <p:cNvPr id="56" name="label">
            <a:extLst xmlns:a="http://schemas.openxmlformats.org/drawingml/2006/main">
              <a:ext uri="{FF2B5EF4-FFF2-40B4-BE49-F238E27FC236}">
                <a16:creationId xmlns:a16="http://schemas.microsoft.com/office/drawing/2014/main" id="{B760ADE1-F186-4618-BB67-EF80D53C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73723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Email/chat draft composer</a:t>
            </a:r>
          </a:p>
        </p:txBody>
      </p:sp>
      <p:sp>
        <p:nvSpPr>
          <p:cNvPr id="57" name="label">
            <a:extLst xmlns:a="http://schemas.openxmlformats.org/drawingml/2006/main">
              <a:ext uri="{FF2B5EF4-FFF2-40B4-BE49-F238E27FC236}">
                <a16:creationId xmlns:a16="http://schemas.microsoft.com/office/drawing/2014/main" id="{CF66DA31-63C5-4D9C-B362-04A6E1D7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73723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EU fast</a:t>
            </a:r>
          </a:p>
        </p:txBody>
      </p:sp>
      <p:sp>
        <p:nvSpPr>
          <p:cNvPr id="58" name="label">
            <a:extLst xmlns:a="http://schemas.openxmlformats.org/drawingml/2006/main">
              <a:ext uri="{FF2B5EF4-FFF2-40B4-BE49-F238E27FC236}">
                <a16:creationId xmlns:a16="http://schemas.microsoft.com/office/drawing/2014/main" id="{D9BC0CF4-CC9A-433C-93B6-455B723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73723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human approval</a:t>
            </a:r>
          </a:p>
        </p:txBody>
      </p:sp>
      <p:sp>
        <p:nvSpPr>
          <p:cNvPr id="59" name="row-8">
            <a:extLst xmlns:a="http://schemas.openxmlformats.org/drawingml/2006/main">
              <a:ext uri="{FF2B5EF4-FFF2-40B4-BE49-F238E27FC236}">
                <a16:creationId xmlns:a16="http://schemas.microsoft.com/office/drawing/2014/main" id="{7C94DF9D-5EB8-426B-AD45-9CC7FAD7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486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>
            <a:solidFill>
              <a:srgbClr val="FBF8F1"/>
            </a:solidFill>
            <a:prstDash val="solid"/>
          </a:ln>
        </p:spPr>
      </p:sp>
      <p:sp>
        <p:nvSpPr>
          <p:cNvPr id="60" name="row-line-8">
            <a:extLst xmlns:a="http://schemas.openxmlformats.org/drawingml/2006/main">
              <a:ext uri="{FF2B5EF4-FFF2-40B4-BE49-F238E27FC236}">
                <a16:creationId xmlns:a16="http://schemas.microsoft.com/office/drawing/2014/main" id="{9147A294-7FF9-4C55-B68B-C3500AB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4582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61" name="label">
            <a:extLst xmlns:a="http://schemas.openxmlformats.org/drawingml/2006/main">
              <a:ext uri="{FF2B5EF4-FFF2-40B4-BE49-F238E27FC236}">
                <a16:creationId xmlns:a16="http://schemas.microsoft.com/office/drawing/2014/main" id="{174C3D61-8906-478D-BABD-A66378C5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0200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Client meetings</a:t>
            </a:r>
          </a:p>
        </p:txBody>
      </p:sp>
      <p:sp>
        <p:nvSpPr>
          <p:cNvPr id="62" name="label">
            <a:extLst xmlns:a="http://schemas.openxmlformats.org/drawingml/2006/main">
              <a:ext uri="{FF2B5EF4-FFF2-40B4-BE49-F238E27FC236}">
                <a16:creationId xmlns:a16="http://schemas.microsoft.com/office/drawing/2014/main" id="{6AB10D0F-286D-48F2-A449-3916ED44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0200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Meeting pack + dashboard</a:t>
            </a:r>
          </a:p>
        </p:txBody>
      </p:sp>
      <p:sp>
        <p:nvSpPr>
          <p:cNvPr id="63" name="label">
            <a:extLst xmlns:a="http://schemas.openxmlformats.org/drawingml/2006/main">
              <a:ext uri="{FF2B5EF4-FFF2-40B4-BE49-F238E27FC236}">
                <a16:creationId xmlns:a16="http://schemas.microsoft.com/office/drawing/2014/main" id="{0165F37E-6B5F-4559-A140-065FB76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80200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EU strong</a:t>
            </a:r>
          </a:p>
        </p:txBody>
      </p:sp>
      <p:sp>
        <p:nvSpPr>
          <p:cNvPr id="64" name="label">
            <a:extLst xmlns:a="http://schemas.openxmlformats.org/drawingml/2006/main">
              <a:ext uri="{FF2B5EF4-FFF2-40B4-BE49-F238E27FC236}">
                <a16:creationId xmlns:a16="http://schemas.microsoft.com/office/drawing/2014/main" id="{F3FA0DB5-0C3E-40CA-B911-9007B24F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020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9C3D34"/>
                </a:solidFill>
              </a:defRPr>
            </a:pPr>
            <a:r>
              <a:rPr sz="1275" b="0" i="0">
                <a:solidFill>
                  <a:srgbClr val="9C3D34"/>
                </a:solidFill>
              </a:rPr>
              <a:t>EØS; frontier only redacted</a:t>
            </a:r>
          </a:p>
        </p:txBody>
      </p:sp>
      <p:sp>
        <p:nvSpPr>
          <p:cNvPr id="65" name="row-9">
            <a:extLst xmlns:a="http://schemas.openxmlformats.org/drawingml/2006/main">
              <a:ext uri="{FF2B5EF4-FFF2-40B4-BE49-F238E27FC236}">
                <a16:creationId xmlns:a16="http://schemas.microsoft.com/office/drawing/2014/main" id="{E2BA0B5F-83B2-4648-BDF3-FA6D69C5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34400"/>
            <a:ext cx="16078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>
            <a:solidFill>
              <a:srgbClr val="EFE6D8"/>
            </a:solidFill>
            <a:prstDash val="solid"/>
          </a:ln>
        </p:spPr>
      </p:sp>
      <p:sp>
        <p:nvSpPr>
          <p:cNvPr id="66" name="row-line-9">
            <a:extLst xmlns:a="http://schemas.openxmlformats.org/drawingml/2006/main">
              <a:ext uri="{FF2B5EF4-FFF2-40B4-BE49-F238E27FC236}">
                <a16:creationId xmlns:a16="http://schemas.microsoft.com/office/drawing/2014/main" id="{591C6D39-AD28-46DD-B3F0-8C384B6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1440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67" name="label">
            <a:extLst xmlns:a="http://schemas.openxmlformats.org/drawingml/2006/main">
              <a:ext uri="{FF2B5EF4-FFF2-40B4-BE49-F238E27FC236}">
                <a16:creationId xmlns:a16="http://schemas.microsoft.com/office/drawing/2014/main" id="{9D85483E-1B58-46DC-8EE4-B1B5EC25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677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2A2F"/>
                </a:solidFill>
              </a:defRPr>
            </a:pPr>
            <a:r>
              <a:rPr sz="1425" b="1" i="0">
                <a:solidFill>
                  <a:srgbClr val="1B2A2F"/>
                </a:solidFill>
              </a:rPr>
              <a:t>Nothing slips</a:t>
            </a:r>
          </a:p>
        </p:txBody>
      </p:sp>
      <p:sp>
        <p:nvSpPr>
          <p:cNvPr id="68" name="label">
            <a:extLst xmlns:a="http://schemas.openxmlformats.org/drawingml/2006/main">
              <a:ext uri="{FF2B5EF4-FFF2-40B4-BE49-F238E27FC236}">
                <a16:creationId xmlns:a16="http://schemas.microsoft.com/office/drawing/2014/main" id="{433B9A8D-A8F2-4911-A0D8-0C9968F8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667750"/>
            <a:ext cx="529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Dashboard queue + alert digest</a:t>
            </a:r>
          </a:p>
        </p:txBody>
      </p:sp>
      <p:sp>
        <p:nvSpPr>
          <p:cNvPr id="69" name="label">
            <a:extLst xmlns:a="http://schemas.openxmlformats.org/drawingml/2006/main">
              <a:ext uri="{FF2B5EF4-FFF2-40B4-BE49-F238E27FC236}">
                <a16:creationId xmlns:a16="http://schemas.microsoft.com/office/drawing/2014/main" id="{9B4CBEBE-33A5-41B3-816D-8DF4A6B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866775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Rules + EU medium</a:t>
            </a:r>
          </a:p>
        </p:txBody>
      </p:sp>
      <p:sp>
        <p:nvSpPr>
          <p:cNvPr id="70" name="label">
            <a:extLst xmlns:a="http://schemas.openxmlformats.org/drawingml/2006/main">
              <a:ext uri="{FF2B5EF4-FFF2-40B4-BE49-F238E27FC236}">
                <a16:creationId xmlns:a16="http://schemas.microsoft.com/office/drawing/2014/main" id="{8AA46C19-A5DA-4AA4-A179-FAFF1B15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6677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B2A2F"/>
                </a:solidFill>
              </a:defRPr>
            </a:pPr>
            <a:r>
              <a:rPr sz="1275" b="0" i="0">
                <a:solidFill>
                  <a:srgbClr val="1B2A2F"/>
                </a:solidFill>
              </a:rPr>
              <a:t>EØS; full audit log</a:t>
            </a:r>
          </a:p>
        </p:txBody>
      </p:sp>
      <p:sp>
        <p:nvSpPr>
          <p:cNvPr id="71" name="label">
            <a:extLst xmlns:a="http://schemas.openxmlformats.org/drawingml/2006/main">
              <a:ext uri="{FF2B5EF4-FFF2-40B4-BE49-F238E27FC236}">
                <a16:creationId xmlns:a16="http://schemas.microsoft.com/office/drawing/2014/main" id="{3EE7B253-5013-4972-A8DC-25D3C11C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20200"/>
            <a:ext cx="14954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37074"/>
                </a:solidFill>
              </a:defRPr>
            </a:pPr>
            <a:r>
              <a:rPr sz="1500" b="0" i="0">
                <a:solidFill>
                  <a:srgbClr val="637074"/>
                </a:solidFill>
              </a:rPr>
              <a:t>EU fast = cheaper routine model. EU strong = better reasoning inside EØS. Frontier = only for redacted or legally cleared cases.</a:t>
            </a:r>
          </a:p>
        </p:txBody>
      </p:sp>
      <p:sp>
        <p:nvSpPr>
          <p:cNvPr id="7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F1AAB1F-D3A5-4DF3-A04D-0DFC849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58350"/>
            <a:ext cx="7296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Task recommendations are implementation guidance; final privacy route depends on vendor, DPA, hosting, and transfer mechanism.</a:t>
            </a:r>
          </a:p>
        </p:txBody>
      </p:sp>
      <p:sp>
        <p:nvSpPr>
          <p:cNvPr id="73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6373FF51-6455-4462-96E0-1F3A7EB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96583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Accounting agent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10947322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16577757-8AB9-4AAA-B33F-69043C3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>
            <a:solidFill>
              <a:srgbClr val="F6F2EA"/>
            </a:solidFill>
            <a:prstDash val="solid"/>
          </a:ln>
        </p:spPr>
      </p:sp>
      <p:sp>
        <p:nvSpPr>
          <p:cNvPr id="2" name="left-binding">
            <a:extLst xmlns:a="http://schemas.openxmlformats.org/drawingml/2006/main">
              <a:ext uri="{FF2B5EF4-FFF2-40B4-BE49-F238E27FC236}">
                <a16:creationId xmlns:a16="http://schemas.microsoft.com/office/drawing/2014/main" id="{6987EB1E-610B-4A1F-9553-1EE0EAD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BC830DC8-0473-4334-AB59-3E48C68C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3E89EC-2DCC-4782-85BD-3EBF7692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4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1B2A2F"/>
                </a:solidFill>
              </a:defRPr>
            </a:pPr>
            <a:r>
              <a:rPr sz="4050" b="1" i="0">
                <a:solidFill>
                  <a:srgbClr val="1B2A2F"/>
                </a:solidFill>
              </a:rPr>
              <a:t>Model routing should follow risk, not convenience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F38A8E-954E-417D-8490-CBF6A270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9700"/>
            <a:ext cx="1162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637074"/>
                </a:solidFill>
              </a:defRPr>
            </a:pPr>
            <a:r>
              <a:rPr sz="1800" b="0" i="0">
                <a:solidFill>
                  <a:srgbClr val="637074"/>
                </a:solidFill>
              </a:rPr>
              <a:t>Use the strongest model only when the value justifies the privacy and governance cost.</a:t>
            </a:r>
          </a:p>
        </p:txBody>
      </p:sp>
      <p:sp>
        <p:nvSpPr>
          <p:cNvPr id="6" name="privacy-Green">
            <a:extLst xmlns:a="http://schemas.openxmlformats.org/drawingml/2006/main">
              <a:ext uri="{FF2B5EF4-FFF2-40B4-BE49-F238E27FC236}">
                <a16:creationId xmlns:a16="http://schemas.microsoft.com/office/drawing/2014/main" id="{ED96176D-568D-4F80-8668-5D294A1D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4495800" cy="51054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7A1EBC3A-49A9-4AFC-AA0A-C6E542C3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76749"/>
                </a:solidFill>
              </a:defRPr>
            </a:pPr>
            <a:r>
              <a:rPr sz="1350" b="1" i="0">
                <a:solidFill>
                  <a:srgbClr val="276749"/>
                </a:solidFill>
              </a:rPr>
              <a:t>GREEN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CD33D10A-BC5F-48EB-A881-738043CD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04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B2A2F"/>
                </a:solidFill>
              </a:defRPr>
            </a:pPr>
            <a:r>
              <a:rPr sz="3000" b="1" i="0">
                <a:solidFill>
                  <a:srgbClr val="1B2A2F"/>
                </a:solidFill>
              </a:rPr>
              <a:t>EØS default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D82EC6CC-538E-432B-8FD8-38309046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36385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Raw client data, ledgers, payroll context, deadlines, Altinn status, and internal task state.</a:t>
            </a:r>
          </a:p>
        </p:txBody>
      </p:sp>
      <p:sp>
        <p:nvSpPr>
          <p:cNvPr id="10" name="privacy-rule-Green">
            <a:extLst xmlns:a="http://schemas.openxmlformats.org/drawingml/2006/main">
              <a:ext uri="{FF2B5EF4-FFF2-40B4-BE49-F238E27FC236}">
                <a16:creationId xmlns:a16="http://schemas.microsoft.com/office/drawing/2014/main" id="{5029BAF3-D997-4CF8-8326-2DE7061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43600"/>
            <a:ext cx="160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49"/>
          </a:solidFill>
          <a:ln xmlns:a="http://schemas.openxmlformats.org/drawingml/2006/main">
            <a:solidFill>
              <a:srgbClr val="276749"/>
            </a:solidFill>
            <a:prstDash val="solid"/>
          </a:ln>
        </p:spPr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DEA385EF-A0C8-4FD7-BDD7-2042BD27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05550"/>
            <a:ext cx="352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276749"/>
                </a:solidFill>
              </a:defRPr>
            </a:pPr>
            <a:r>
              <a:rPr sz="1800" b="1" i="0">
                <a:solidFill>
                  <a:srgbClr val="276749"/>
                </a:solidFill>
              </a:rPr>
              <a:t>Rules + EU fast/strong models</a:t>
            </a:r>
          </a:p>
        </p:txBody>
      </p:sp>
      <p:sp>
        <p:nvSpPr>
          <p:cNvPr id="12" name="privacy-Amber">
            <a:extLst xmlns:a="http://schemas.openxmlformats.org/drawingml/2006/main">
              <a:ext uri="{FF2B5EF4-FFF2-40B4-BE49-F238E27FC236}">
                <a16:creationId xmlns:a16="http://schemas.microsoft.com/office/drawing/2014/main" id="{7E7282F9-ED14-4416-BDD7-8AD02F31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4495800" cy="51054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3D7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abel">
            <a:extLst xmlns:a="http://schemas.openxmlformats.org/drawingml/2006/main">
              <a:ext uri="{FF2B5EF4-FFF2-40B4-BE49-F238E27FC236}">
                <a16:creationId xmlns:a16="http://schemas.microsoft.com/office/drawing/2014/main" id="{73D41206-041C-4454-B6FD-86ABF926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7792C"/>
                </a:solidFill>
              </a:defRPr>
            </a:pPr>
            <a:r>
              <a:rPr sz="1350" b="1" i="0">
                <a:solidFill>
                  <a:srgbClr val="C7792C"/>
                </a:solidFill>
              </a:rPr>
              <a:t>AMBER</a:t>
            </a:r>
          </a:p>
        </p:txBody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44DD00BB-FD47-4AC7-9D65-4D67863F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B2A2F"/>
                </a:solidFill>
              </a:defRPr>
            </a:pPr>
            <a:r>
              <a:rPr sz="3000" b="1" i="0">
                <a:solidFill>
                  <a:srgbClr val="1B2A2F"/>
                </a:solidFill>
              </a:rPr>
              <a:t>Controlled transfer</a:t>
            </a:r>
          </a:p>
        </p:txBody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98AC2396-9D13-4997-9376-2CBFE517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36385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Only when the recipient and transfer basis are cleared: adequacy-covered provider or SCCs/BCR plus assessment and safeguards.</a:t>
            </a:r>
          </a:p>
        </p:txBody>
      </p:sp>
      <p:sp>
        <p:nvSpPr>
          <p:cNvPr id="16" name="privacy-rule-Amber">
            <a:extLst xmlns:a="http://schemas.openxmlformats.org/drawingml/2006/main">
              <a:ext uri="{FF2B5EF4-FFF2-40B4-BE49-F238E27FC236}">
                <a16:creationId xmlns:a16="http://schemas.microsoft.com/office/drawing/2014/main" id="{4072C38A-81C4-45C4-AD4A-10115933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43600"/>
            <a:ext cx="160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08EE0D12-E308-44AE-BE65-D3AEFEC9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305550"/>
            <a:ext cx="352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C7792C"/>
                </a:solidFill>
              </a:defRPr>
            </a:pPr>
            <a:r>
              <a:rPr sz="1800" b="1" i="0">
                <a:solidFill>
                  <a:srgbClr val="C7792C"/>
                </a:solidFill>
              </a:rPr>
              <a:t>US/global model with guardrails</a:t>
            </a:r>
          </a:p>
        </p:txBody>
      </p:sp>
      <p:sp>
        <p:nvSpPr>
          <p:cNvPr id="18" name="privacy-Red">
            <a:extLst xmlns:a="http://schemas.openxmlformats.org/drawingml/2006/main">
              <a:ext uri="{FF2B5EF4-FFF2-40B4-BE49-F238E27FC236}">
                <a16:creationId xmlns:a16="http://schemas.microsoft.com/office/drawing/2014/main" id="{D92E74E2-31E1-463C-9FB0-368953F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438400"/>
            <a:ext cx="4495800" cy="51054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EACB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610BB119-E0FE-4EC7-B701-BAE6E012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813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9C3D34"/>
                </a:solidFill>
              </a:defRPr>
            </a:pPr>
            <a:r>
              <a:rPr sz="1350" b="1" i="0">
                <a:solidFill>
                  <a:srgbClr val="9C3D34"/>
                </a:solidFill>
              </a:rPr>
              <a:t>RED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B92B5B16-CF71-458D-96AC-8C5E5321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2004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B2A2F"/>
                </a:solidFill>
              </a:defRPr>
            </a:pPr>
            <a:r>
              <a:rPr sz="3000" b="1" i="0">
                <a:solidFill>
                  <a:srgbClr val="1B2A2F"/>
                </a:solidFill>
              </a:rPr>
              <a:t>Do not send</a:t>
            </a:r>
          </a:p>
        </p:txBody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BF0F8580-4D64-419E-8508-252A5D8E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38600"/>
            <a:ext cx="3638550" cy="1543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Full ledgers, identifiable payroll, special-category data, BankID/session secrets, portal credentials, or client files without approval.</a:t>
            </a:r>
          </a:p>
        </p:txBody>
      </p:sp>
      <p:sp>
        <p:nvSpPr>
          <p:cNvPr id="22" name="privacy-rule-Red">
            <a:extLst xmlns:a="http://schemas.openxmlformats.org/drawingml/2006/main">
              <a:ext uri="{FF2B5EF4-FFF2-40B4-BE49-F238E27FC236}">
                <a16:creationId xmlns:a16="http://schemas.microsoft.com/office/drawing/2014/main" id="{5F1D0650-3D79-43C7-B5F3-D7B0D97A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943600"/>
            <a:ext cx="160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D34"/>
          </a:solidFill>
          <a:ln xmlns:a="http://schemas.openxmlformats.org/drawingml/2006/main">
            <a:solidFill>
              <a:srgbClr val="9C3D34"/>
            </a:solidFill>
            <a:prstDash val="solid"/>
          </a:ln>
        </p:spPr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B4A9ED4D-7CF5-4D89-AA5F-F476C29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305550"/>
            <a:ext cx="352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9C3D34"/>
                </a:solidFill>
              </a:defRPr>
            </a:pPr>
            <a:r>
              <a:rPr sz="1800" b="1" i="0">
                <a:solidFill>
                  <a:srgbClr val="9C3D34"/>
                </a:solidFill>
              </a:rPr>
              <a:t>Redact, summarize, or keep in EØS</a:t>
            </a:r>
          </a:p>
        </p:txBody>
      </p:sp>
      <p:sp>
        <p:nvSpPr>
          <p:cNvPr id="24" name="label">
            <a:extLst xmlns:a="http://schemas.openxmlformats.org/drawingml/2006/main">
              <a:ext uri="{FF2B5EF4-FFF2-40B4-BE49-F238E27FC236}">
                <a16:creationId xmlns:a16="http://schemas.microsoft.com/office/drawing/2014/main" id="{195767FF-D151-41B8-97CC-14D38252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9625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B2A2F"/>
                </a:solidFill>
              </a:defRPr>
            </a:pPr>
            <a:r>
              <a:rPr sz="1725" b="1" i="0">
                <a:solidFill>
                  <a:srgbClr val="1B2A2F"/>
                </a:solidFill>
              </a:rPr>
              <a:t>Recommended policy</a:t>
            </a:r>
          </a:p>
        </p:txBody>
      </p:sp>
      <p:sp>
        <p:nvSpPr>
          <p:cNvPr id="25" name="label">
            <a:extLst xmlns:a="http://schemas.openxmlformats.org/drawingml/2006/main">
              <a:ext uri="{FF2B5EF4-FFF2-40B4-BE49-F238E27FC236}">
                <a16:creationId xmlns:a16="http://schemas.microsoft.com/office/drawing/2014/main" id="{9C357DD0-81FE-4A31-9575-2449192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39150"/>
            <a:ext cx="14478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1B2A2F"/>
                </a:solidFill>
              </a:defRPr>
            </a:pPr>
            <a:r>
              <a:rPr sz="1875" b="0" i="0">
                <a:solidFill>
                  <a:srgbClr val="1B2A2F"/>
                </a:solidFill>
              </a:rPr>
              <a:t>Start with EØS-only processing for the pilot. Add frontier/US routing later as an explicit exception path with redaction, DPA, transfer assessment, and customer sign-off.</a:t>
            </a:r>
          </a:p>
        </p:txBody>
      </p:sp>
      <p:sp>
        <p:nvSpPr>
          <p:cNvPr id="2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D7F6AFA-C1B4-40ED-8E1F-589CC682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58350"/>
            <a:ext cx="9067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Sources: Datatilsynet guidance on transfers outside EØS; European Commission adequacy and EU-US Data Privacy Framework guidance; EDPB transfer guidance.</a:t>
            </a:r>
          </a:p>
        </p:txBody>
      </p:sp>
      <p:sp>
        <p:nvSpPr>
          <p:cNvPr id="27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21617691-4C95-4763-8F0A-EA268F7B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97345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Accounting agent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256446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nvas">
            <a:extLst xmlns:a="http://schemas.openxmlformats.org/drawingml/2006/main">
              <a:ext uri="{FF2B5EF4-FFF2-40B4-BE49-F238E27FC236}">
                <a16:creationId xmlns:a16="http://schemas.microsoft.com/office/drawing/2014/main" id="{3521FB53-4016-421B-BF2E-0318227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>
            <a:solidFill>
              <a:srgbClr val="F6F2EA"/>
            </a:solidFill>
            <a:prstDash val="solid"/>
          </a:ln>
        </p:spPr>
      </p:sp>
      <p:sp>
        <p:nvSpPr>
          <p:cNvPr id="2" name="left-binding">
            <a:extLst xmlns:a="http://schemas.openxmlformats.org/drawingml/2006/main">
              <a:ext uri="{FF2B5EF4-FFF2-40B4-BE49-F238E27FC236}">
                <a16:creationId xmlns:a16="http://schemas.microsoft.com/office/drawing/2014/main" id="{DE4DFC29-6FD5-4AC0-A396-7A3CB934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CCC863DE-965F-427C-8334-85CE2F75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B74E5-D663-4511-999C-7ED1E338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"/>
            <a:ext cx="1314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1B2A2F"/>
                </a:solidFill>
              </a:defRPr>
            </a:pPr>
            <a:r>
              <a:rPr sz="4050" b="1" i="0">
                <a:solidFill>
                  <a:srgbClr val="1B2A2F"/>
                </a:solidFill>
              </a:rPr>
              <a:t>The agent suggests. The accountant decides.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0DF675-015A-4844-9637-B64D4B38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09700"/>
            <a:ext cx="1162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637074"/>
                </a:solidFill>
              </a:defRPr>
            </a:pPr>
            <a:r>
              <a:rPr sz="1800" b="0" i="0">
                <a:solidFill>
                  <a:srgbClr val="637074"/>
                </a:solidFill>
              </a:rPr>
              <a:t>Every external action should be approved, sourced, risk-rated, and logged.</a:t>
            </a:r>
          </a:p>
        </p:txBody>
      </p:sp>
      <p:sp>
        <p:nvSpPr>
          <p:cNvPr id="6" name="flow-Detect">
            <a:extLst xmlns:a="http://schemas.openxmlformats.org/drawingml/2006/main">
              <a:ext uri="{FF2B5EF4-FFF2-40B4-BE49-F238E27FC236}">
                <a16:creationId xmlns:a16="http://schemas.microsoft.com/office/drawing/2014/main" id="{3A526892-7C4B-4C65-94E9-F49AB322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2362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6B8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9CBBA20-29B4-4F84-9C88-CE7A1F89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194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B2A2F"/>
                </a:solidFill>
              </a:defRPr>
            </a:pPr>
            <a:r>
              <a:rPr sz="2025" b="1" i="0">
                <a:solidFill>
                  <a:srgbClr val="1B2A2F"/>
                </a:solidFill>
              </a:rPr>
              <a:t>Detect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2EC902E9-CA06-406F-91F8-B4F9FDD8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missing docs,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deadlines,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portal changes</a:t>
            </a:r>
          </a:p>
        </p:txBody>
      </p:sp>
      <p:sp>
        <p:nvSpPr>
          <p:cNvPr id="9" name="flow-line-1">
            <a:extLst xmlns:a="http://schemas.openxmlformats.org/drawingml/2006/main">
              <a:ext uri="{FF2B5EF4-FFF2-40B4-BE49-F238E27FC236}">
                <a16:creationId xmlns:a16="http://schemas.microsoft.com/office/drawing/2014/main" id="{0363B1D7-1760-436A-8E6F-D30274C5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10" name="flow-Explain">
            <a:extLst xmlns:a="http://schemas.openxmlformats.org/drawingml/2006/main">
              <a:ext uri="{FF2B5EF4-FFF2-40B4-BE49-F238E27FC236}">
                <a16:creationId xmlns:a16="http://schemas.microsoft.com/office/drawing/2014/main" id="{D64E658C-92AC-442B-910D-534F07E8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2362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6B8"/>
            </a:solidFill>
            <a:prstDash val="solid"/>
          </a:ln>
        </p:spPr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9492CEA4-50A3-4BD8-9E5B-C67A6584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48000"/>
            <a:ext cx="194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B2A2F"/>
                </a:solidFill>
              </a:defRPr>
            </a:pPr>
            <a:r>
              <a:rPr sz="2025" b="1" i="0">
                <a:solidFill>
                  <a:srgbClr val="1B2A2F"/>
                </a:solidFill>
              </a:rPr>
              <a:t>Explain</a:t>
            </a:r>
          </a:p>
        </p:txBody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267528CE-61D1-4B4D-9962-BA3CD6A9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2425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short reason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+ source link</a:t>
            </a:r>
          </a:p>
        </p:txBody>
      </p:sp>
      <p:sp>
        <p:nvSpPr>
          <p:cNvPr id="13" name="flow-line-2">
            <a:extLst xmlns:a="http://schemas.openxmlformats.org/drawingml/2006/main">
              <a:ext uri="{FF2B5EF4-FFF2-40B4-BE49-F238E27FC236}">
                <a16:creationId xmlns:a16="http://schemas.microsoft.com/office/drawing/2014/main" id="{7033AB33-283A-41D7-8247-C72BE56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14" name="flow-Suggest">
            <a:extLst xmlns:a="http://schemas.openxmlformats.org/drawingml/2006/main">
              <a:ext uri="{FF2B5EF4-FFF2-40B4-BE49-F238E27FC236}">
                <a16:creationId xmlns:a16="http://schemas.microsoft.com/office/drawing/2014/main" id="{AE59B2DC-DBFF-494F-B583-DA97AA7A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19400"/>
            <a:ext cx="2362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6B8"/>
            </a:solidFill>
            <a:prstDash val="solid"/>
          </a:ln>
        </p:spPr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C1FEB442-9E6C-4AE8-827A-14EC0643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194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B2A2F"/>
                </a:solidFill>
              </a:defRPr>
            </a:pPr>
            <a:r>
              <a:rPr sz="2025" b="1" i="0">
                <a:solidFill>
                  <a:srgbClr val="1B2A2F"/>
                </a:solidFill>
              </a:rPr>
              <a:t>Suggest</a:t>
            </a:r>
          </a:p>
        </p:txBody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E6CBE472-9A15-45D5-B594-EB3242B0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next action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+ risk level</a:t>
            </a:r>
          </a:p>
        </p:txBody>
      </p:sp>
      <p:sp>
        <p:nvSpPr>
          <p:cNvPr id="17" name="flow-line-3">
            <a:extLst xmlns:a="http://schemas.openxmlformats.org/drawingml/2006/main">
              <a:ext uri="{FF2B5EF4-FFF2-40B4-BE49-F238E27FC236}">
                <a16:creationId xmlns:a16="http://schemas.microsoft.com/office/drawing/2014/main" id="{C52D156C-D49B-4A73-871D-5F90E2E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18" name="flow-Draft">
            <a:extLst xmlns:a="http://schemas.openxmlformats.org/drawingml/2006/main">
              <a:ext uri="{FF2B5EF4-FFF2-40B4-BE49-F238E27FC236}">
                <a16:creationId xmlns:a16="http://schemas.microsoft.com/office/drawing/2014/main" id="{CE3934B6-5CF5-44C2-A4C5-A9CB09D9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2362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6B8"/>
            </a:solidFill>
            <a:prstDash val="solid"/>
          </a:ln>
        </p:spPr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175F9865-1D02-473D-ADB4-D04EF2CD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194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B2A2F"/>
                </a:solidFill>
              </a:defRPr>
            </a:pPr>
            <a:r>
              <a:rPr sz="2025" b="1" i="0">
                <a:solidFill>
                  <a:srgbClr val="1B2A2F"/>
                </a:solidFill>
              </a:rPr>
              <a:t>Draft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E1F7016A-A286-4DF4-9DCE-CF8A803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client message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or internal task</a:t>
            </a:r>
          </a:p>
        </p:txBody>
      </p:sp>
      <p:sp>
        <p:nvSpPr>
          <p:cNvPr id="21" name="flow-line-4">
            <a:extLst xmlns:a="http://schemas.openxmlformats.org/drawingml/2006/main">
              <a:ext uri="{FF2B5EF4-FFF2-40B4-BE49-F238E27FC236}">
                <a16:creationId xmlns:a16="http://schemas.microsoft.com/office/drawing/2014/main" id="{7FD8D24C-42CD-4934-8747-B7EA4B21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2" name="flow-Approve">
            <a:extLst xmlns:a="http://schemas.openxmlformats.org/drawingml/2006/main">
              <a:ext uri="{FF2B5EF4-FFF2-40B4-BE49-F238E27FC236}">
                <a16:creationId xmlns:a16="http://schemas.microsoft.com/office/drawing/2014/main" id="{CEE98981-293A-4786-AC39-913C5918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819400"/>
            <a:ext cx="2362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D7B7"/>
          </a:solidFill>
          <a:ln xmlns:a="http://schemas.openxmlformats.org/drawingml/2006/main" w="9525">
            <a:solidFill>
              <a:srgbClr val="D1C6B8"/>
            </a:solidFill>
            <a:prstDash val="solid"/>
          </a:ln>
        </p:spPr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D7772F09-5D3C-47CE-8BB7-8FE9F9E1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048000"/>
            <a:ext cx="194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C7792C"/>
                </a:solidFill>
              </a:defRPr>
            </a:pPr>
            <a:r>
              <a:rPr sz="2025" b="1" i="0">
                <a:solidFill>
                  <a:srgbClr val="C7792C"/>
                </a:solidFill>
              </a:rPr>
              <a:t>Approve</a:t>
            </a:r>
          </a:p>
        </p:txBody>
      </p:sp>
      <p:sp>
        <p:nvSpPr>
          <p:cNvPr id="24" name="label">
            <a:extLst xmlns:a="http://schemas.openxmlformats.org/drawingml/2006/main">
              <a:ext uri="{FF2B5EF4-FFF2-40B4-BE49-F238E27FC236}">
                <a16:creationId xmlns:a16="http://schemas.microsoft.com/office/drawing/2014/main" id="{28674743-3CA4-4F49-9582-D9CBEBF0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Pahr reviewer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confirms</a:t>
            </a:r>
          </a:p>
        </p:txBody>
      </p:sp>
      <p:sp>
        <p:nvSpPr>
          <p:cNvPr id="25" name="flow-line-5">
            <a:extLst xmlns:a="http://schemas.openxmlformats.org/drawingml/2006/main">
              <a:ext uri="{FF2B5EF4-FFF2-40B4-BE49-F238E27FC236}">
                <a16:creationId xmlns:a16="http://schemas.microsoft.com/office/drawing/2014/main" id="{BD7E0F6D-93A9-4D10-A0D0-D63A9198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42900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C6B8"/>
          </a:solidFill>
          <a:ln xmlns:a="http://schemas.openxmlformats.org/drawingml/2006/main">
            <a:solidFill>
              <a:srgbClr val="D1C6B8"/>
            </a:solidFill>
            <a:prstDash val="solid"/>
          </a:ln>
        </p:spPr>
      </p:sp>
      <p:sp>
        <p:nvSpPr>
          <p:cNvPr id="26" name="flow-Act + log">
            <a:extLst xmlns:a="http://schemas.openxmlformats.org/drawingml/2006/main">
              <a:ext uri="{FF2B5EF4-FFF2-40B4-BE49-F238E27FC236}">
                <a16:creationId xmlns:a16="http://schemas.microsoft.com/office/drawing/2014/main" id="{3F195273-4242-4FD1-9900-D883AC6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2819400"/>
            <a:ext cx="2362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CEBDC"/>
          </a:solidFill>
          <a:ln xmlns:a="http://schemas.openxmlformats.org/drawingml/2006/main" w="9525">
            <a:solidFill>
              <a:srgbClr val="D1C6B8"/>
            </a:solidFill>
            <a:prstDash val="solid"/>
          </a:ln>
        </p:spPr>
      </p:sp>
      <p:sp>
        <p:nvSpPr>
          <p:cNvPr id="27" name="label">
            <a:extLst xmlns:a="http://schemas.openxmlformats.org/drawingml/2006/main">
              <a:ext uri="{FF2B5EF4-FFF2-40B4-BE49-F238E27FC236}">
                <a16:creationId xmlns:a16="http://schemas.microsoft.com/office/drawing/2014/main" id="{7DA2258A-0108-4722-9365-B1A50EE0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048000"/>
            <a:ext cx="1943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 i="0">
                <a:solidFill>
                  <a:srgbClr val="1B2A2F"/>
                </a:solidFill>
              </a:defRPr>
            </a:pPr>
            <a:r>
              <a:rPr sz="2025" b="1" i="0">
                <a:solidFill>
                  <a:srgbClr val="1B2A2F"/>
                </a:solidFill>
              </a:rPr>
              <a:t>Act + log</a:t>
            </a:r>
          </a:p>
        </p:txBody>
      </p:sp>
      <p:sp>
        <p:nvSpPr>
          <p:cNvPr id="28" name="label">
            <a:extLst xmlns:a="http://schemas.openxmlformats.org/drawingml/2006/main">
              <a:ext uri="{FF2B5EF4-FFF2-40B4-BE49-F238E27FC236}">
                <a16:creationId xmlns:a16="http://schemas.microsoft.com/office/drawing/2014/main" id="{547475E3-0DE7-47D2-A28B-48B3327F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352425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send/register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637074"/>
                </a:solidFill>
              </a:defRPr>
            </a:pPr>
            <a:r>
              <a:rPr sz="1425" b="0" i="0">
                <a:solidFill>
                  <a:srgbClr val="637074"/>
                </a:solidFill>
              </a:rPr>
              <a:t>with audit trail</a:t>
            </a:r>
          </a:p>
        </p:txBody>
      </p:sp>
      <p:sp>
        <p:nvSpPr>
          <p:cNvPr id="29" name="label">
            <a:extLst xmlns:a="http://schemas.openxmlformats.org/drawingml/2006/main">
              <a:ext uri="{FF2B5EF4-FFF2-40B4-BE49-F238E27FC236}">
                <a16:creationId xmlns:a16="http://schemas.microsoft.com/office/drawing/2014/main" id="{371F8F67-B3D8-4F22-8386-7796AEE8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95900"/>
            <a:ext cx="590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1B2A2F"/>
                </a:solidFill>
              </a:defRPr>
            </a:pPr>
            <a:r>
              <a:rPr sz="2850" b="1" i="0">
                <a:solidFill>
                  <a:srgbClr val="1B2A2F"/>
                </a:solidFill>
              </a:rPr>
              <a:t>Suggestion package</a:t>
            </a:r>
          </a:p>
        </p:txBody>
      </p:sp>
      <p:sp>
        <p:nvSpPr>
          <p:cNvPr id="30" name="dot-0">
            <a:extLst xmlns:a="http://schemas.openxmlformats.org/drawingml/2006/main">
              <a:ext uri="{FF2B5EF4-FFF2-40B4-BE49-F238E27FC236}">
                <a16:creationId xmlns:a16="http://schemas.microsoft.com/office/drawing/2014/main" id="{1F232D30-1F03-4743-A8F1-40F82517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0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1" name="label">
            <a:extLst xmlns:a="http://schemas.openxmlformats.org/drawingml/2006/main">
              <a:ext uri="{FF2B5EF4-FFF2-40B4-BE49-F238E27FC236}">
                <a16:creationId xmlns:a16="http://schemas.microsoft.com/office/drawing/2014/main" id="{57786621-1D64-44F6-BA42-F3C7277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579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short explanation</a:t>
            </a:r>
          </a:p>
        </p:txBody>
      </p:sp>
      <p:sp>
        <p:nvSpPr>
          <p:cNvPr id="32" name="dot-1">
            <a:extLst xmlns:a="http://schemas.openxmlformats.org/drawingml/2006/main">
              <a:ext uri="{FF2B5EF4-FFF2-40B4-BE49-F238E27FC236}">
                <a16:creationId xmlns:a16="http://schemas.microsoft.com/office/drawing/2014/main" id="{8CCF2E98-FB3E-4B07-B6E7-1E483408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8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3" name="label">
            <a:extLst xmlns:a="http://schemas.openxmlformats.org/drawingml/2006/main">
              <a:ext uri="{FF2B5EF4-FFF2-40B4-BE49-F238E27FC236}">
                <a16:creationId xmlns:a16="http://schemas.microsoft.com/office/drawing/2014/main" id="{7FE0D0F7-A208-49C8-A967-3B2520E2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484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sources / references</a:t>
            </a:r>
          </a:p>
        </p:txBody>
      </p:sp>
      <p:sp>
        <p:nvSpPr>
          <p:cNvPr id="34" name="dot-2">
            <a:extLst xmlns:a="http://schemas.openxmlformats.org/drawingml/2006/main">
              <a:ext uri="{FF2B5EF4-FFF2-40B4-BE49-F238E27FC236}">
                <a16:creationId xmlns:a16="http://schemas.microsoft.com/office/drawing/2014/main" id="{519B38CA-0678-4417-8104-A2351E78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91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5" name="label">
            <a:extLst xmlns:a="http://schemas.openxmlformats.org/drawingml/2006/main">
              <a:ext uri="{FF2B5EF4-FFF2-40B4-BE49-F238E27FC236}">
                <a16:creationId xmlns:a16="http://schemas.microsoft.com/office/drawing/2014/main" id="{9BB1C9D7-2624-4A23-9F31-EB90E997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390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suggested next action</a:t>
            </a:r>
          </a:p>
        </p:txBody>
      </p:sp>
      <p:sp>
        <p:nvSpPr>
          <p:cNvPr id="36" name="dot-3">
            <a:extLst xmlns:a="http://schemas.openxmlformats.org/drawingml/2006/main">
              <a:ext uri="{FF2B5EF4-FFF2-40B4-BE49-F238E27FC236}">
                <a16:creationId xmlns:a16="http://schemas.microsoft.com/office/drawing/2014/main" id="{48D4DDB5-8FCD-4956-91BD-88093BB2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96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7" name="label">
            <a:extLst xmlns:a="http://schemas.openxmlformats.org/drawingml/2006/main">
              <a:ext uri="{FF2B5EF4-FFF2-40B4-BE49-F238E27FC236}">
                <a16:creationId xmlns:a16="http://schemas.microsoft.com/office/drawing/2014/main" id="{B44EA3AD-C004-49C2-A4D4-9487925C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8295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draft customer message</a:t>
            </a:r>
          </a:p>
        </p:txBody>
      </p:sp>
      <p:sp>
        <p:nvSpPr>
          <p:cNvPr id="38" name="dot-4">
            <a:extLst xmlns:a="http://schemas.openxmlformats.org/drawingml/2006/main">
              <a:ext uri="{FF2B5EF4-FFF2-40B4-BE49-F238E27FC236}">
                <a16:creationId xmlns:a16="http://schemas.microsoft.com/office/drawing/2014/main" id="{5701BF07-E269-46F3-BEAB-529E46FF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210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39" name="label">
            <a:extLst xmlns:a="http://schemas.openxmlformats.org/drawingml/2006/main">
              <a:ext uri="{FF2B5EF4-FFF2-40B4-BE49-F238E27FC236}">
                <a16:creationId xmlns:a16="http://schemas.microsoft.com/office/drawing/2014/main" id="{9538C26F-EA1E-4401-848F-CAA9F27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0579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suggested internal task</a:t>
            </a:r>
          </a:p>
        </p:txBody>
      </p:sp>
      <p:sp>
        <p:nvSpPr>
          <p:cNvPr id="40" name="dot-5">
            <a:extLst xmlns:a="http://schemas.openxmlformats.org/drawingml/2006/main">
              <a:ext uri="{FF2B5EF4-FFF2-40B4-BE49-F238E27FC236}">
                <a16:creationId xmlns:a16="http://schemas.microsoft.com/office/drawing/2014/main" id="{7172B67D-80F4-47A2-BFC0-105CCA51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78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F5C"/>
          </a:solidFill>
          <a:ln xmlns:a="http://schemas.openxmlformats.org/drawingml/2006/main">
            <a:solidFill>
              <a:srgbClr val="6E7F5C"/>
            </a:solidFill>
            <a:prstDash val="solid"/>
          </a:ln>
        </p:spPr>
      </p:sp>
      <p:sp>
        <p:nvSpPr>
          <p:cNvPr id="41" name="label">
            <a:extLst xmlns:a="http://schemas.openxmlformats.org/drawingml/2006/main">
              <a:ext uri="{FF2B5EF4-FFF2-40B4-BE49-F238E27FC236}">
                <a16:creationId xmlns:a16="http://schemas.microsoft.com/office/drawing/2014/main" id="{16E85236-B808-404F-9F80-DA10F68A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6484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risk / priority level</a:t>
            </a:r>
          </a:p>
        </p:txBody>
      </p:sp>
      <p:sp>
        <p:nvSpPr>
          <p:cNvPr id="42" name="dot-6">
            <a:extLst xmlns:a="http://schemas.openxmlformats.org/drawingml/2006/main">
              <a:ext uri="{FF2B5EF4-FFF2-40B4-BE49-F238E27FC236}">
                <a16:creationId xmlns:a16="http://schemas.microsoft.com/office/drawing/2014/main" id="{AC04A03C-1FFD-4F9B-A98C-6165A44D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3914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3" name="label">
            <a:extLst xmlns:a="http://schemas.openxmlformats.org/drawingml/2006/main">
              <a:ext uri="{FF2B5EF4-FFF2-40B4-BE49-F238E27FC236}">
                <a16:creationId xmlns:a16="http://schemas.microsoft.com/office/drawing/2014/main" id="{569B0671-DB8D-439B-B3E2-5503C842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2390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who at Pahr should review</a:t>
            </a:r>
          </a:p>
        </p:txBody>
      </p:sp>
      <p:sp>
        <p:nvSpPr>
          <p:cNvPr id="44" name="dot-7">
            <a:extLst xmlns:a="http://schemas.openxmlformats.org/drawingml/2006/main">
              <a:ext uri="{FF2B5EF4-FFF2-40B4-BE49-F238E27FC236}">
                <a16:creationId xmlns:a16="http://schemas.microsoft.com/office/drawing/2014/main" id="{70E34E2D-EB4C-4527-916C-69CB7F19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962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2C"/>
          </a:solidFill>
          <a:ln xmlns:a="http://schemas.openxmlformats.org/drawingml/2006/main">
            <a:solidFill>
              <a:srgbClr val="C7792C"/>
            </a:solidFill>
            <a:prstDash val="solid"/>
          </a:ln>
        </p:spPr>
      </p:sp>
      <p:sp>
        <p:nvSpPr>
          <p:cNvPr id="45" name="label">
            <a:extLst xmlns:a="http://schemas.openxmlformats.org/drawingml/2006/main">
              <a:ext uri="{FF2B5EF4-FFF2-40B4-BE49-F238E27FC236}">
                <a16:creationId xmlns:a16="http://schemas.microsoft.com/office/drawing/2014/main" id="{3FA7F882-242F-4B5B-B8D6-492AE2E7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8295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1B2A2F"/>
                </a:solidFill>
              </a:defRPr>
            </a:pPr>
            <a:r>
              <a:rPr sz="1800" b="0" i="0">
                <a:solidFill>
                  <a:srgbClr val="1B2A2F"/>
                </a:solidFill>
              </a:rPr>
              <a:t>full activity log</a:t>
            </a:r>
          </a:p>
        </p:txBody>
      </p:sp>
      <p:sp>
        <p:nvSpPr>
          <p:cNvPr id="46" name="pilot-ask">
            <a:extLst xmlns:a="http://schemas.openxmlformats.org/drawingml/2006/main">
              <a:ext uri="{FF2B5EF4-FFF2-40B4-BE49-F238E27FC236}">
                <a16:creationId xmlns:a16="http://schemas.microsoft.com/office/drawing/2014/main" id="{88A08AA3-80D4-40B7-9B65-0733B60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62600"/>
            <a:ext cx="56388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2A2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label">
            <a:extLst xmlns:a="http://schemas.openxmlformats.org/drawingml/2006/main">
              <a:ext uri="{FF2B5EF4-FFF2-40B4-BE49-F238E27FC236}">
                <a16:creationId xmlns:a16="http://schemas.microsoft.com/office/drawing/2014/main" id="{8A9CA2EF-EA67-40DC-AF47-50D48432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00750"/>
            <a:ext cx="457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Pilot deal framing</a:t>
            </a:r>
          </a:p>
        </p:txBody>
      </p:sp>
      <p:sp>
        <p:nvSpPr>
          <p:cNvPr id="48" name="label">
            <a:extLst xmlns:a="http://schemas.openxmlformats.org/drawingml/2006/main">
              <a:ext uri="{FF2B5EF4-FFF2-40B4-BE49-F238E27FC236}">
                <a16:creationId xmlns:a16="http://schemas.microsoft.com/office/drawing/2014/main" id="{5A56679E-4427-445B-B10D-85A73B8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705600"/>
            <a:ext cx="44386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875" b="0" i="0">
                <a:solidFill>
                  <a:srgbClr val="D8E5DE"/>
                </a:solidFill>
              </a:defRPr>
            </a:pPr>
            <a:r>
              <a:rPr sz="1875" b="0" i="0">
                <a:solidFill>
                  <a:srgbClr val="D8E5DE"/>
                </a:solidFill>
              </a:rPr>
              <a:t>Start with read-only system checks, daily digest, Slack/Teams Q&amp;A, and draft follow-ups. Add write/register actions only after audit logs and approvals are proven.</a:t>
            </a:r>
          </a:p>
        </p:txBody>
      </p:sp>
      <p:sp>
        <p:nvSpPr>
          <p:cNvPr id="4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6A05C8A-7115-4A5D-9D9F-8E1518A9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65835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Human approval before external messages, registration, filing, or client-visible changes.</a:t>
            </a:r>
          </a:p>
        </p:txBody>
      </p:sp>
      <p:sp>
        <p:nvSpPr>
          <p:cNvPr id="50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C2C054F5-6086-4683-8D68-9C8F5986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96583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37074"/>
                </a:solidFill>
              </a:defRPr>
            </a:pPr>
            <a:r>
              <a:rPr sz="975">
                <a:solidFill>
                  <a:srgbClr val="637074"/>
                </a:solidFill>
              </a:rPr>
              <a:t>Accounting agent operating model</a:t>
            </a:r>
          </a:p>
        </p:txBody>
      </p:sp>
    </p:spTree>
    <p:extLst>
      <p:ext uri="{BB962C8B-B14F-4D97-AF65-F5344CB8AC3E}">
        <p14:creationId xmlns:p14="http://schemas.microsoft.com/office/powerpoint/2010/main" val="1325103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2026-05-18T20:33:06.9740000Z</dcterms:created>
  <dcterms:modified xsi:type="dcterms:W3CDTF">2026-05-18T20:33:06.9740000Z</dcterms:modified>
</coreProperties>
</file>